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89E109-FA19-402A-A3F4-272A7FB72D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8C7070E-F7C8-408E-9892-B0CDBF3BCF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32C4095-1313-4A21-A47E-D38A7B9E55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BB30DAC-EBD4-4163-87AA-A5C3EE0E34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9143FED-E671-4C1E-8D42-71838EE3C6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B5488F3-172B-422C-8B1F-1341B8B230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A6EE107-BEE1-48AE-8DF0-A134FB5E4B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8F1251B-A883-48D9-95B6-4A07D965DA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38412EB-7974-4590-B66D-ADCDE0CF7B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F6660C-E438-4609-B9AE-15A251C169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E1F5323-0ACD-4CA2-BA1F-8C58029D73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2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ounded Rectangle 4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03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19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TOPIC 02 • PROBLEM STATEMENT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The Crisis of Lost Valuables &amp; Broken Traditional Channels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Losing phones, wallets, IDs, or keys leads to severe anxiety, financial loss, and privacy exposure.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25"/>
          <p:cNvSpPr/>
          <p:nvPr/>
        </p:nvSpPr>
        <p:spPr>
          <a:xfrm>
            <a:off x="731520" y="1874520"/>
            <a:ext cx="338256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5"/>
          <p:cNvSpPr/>
          <p:nvPr/>
        </p:nvSpPr>
        <p:spPr>
          <a:xfrm>
            <a:off x="914400" y="2057400"/>
            <a:ext cx="301680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📯  Fragmented &amp; Chaotic Channels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Relying on manual paper registers, physical notice boards, and scattered Facebook/Viber groups leads to posts getting buried within hours.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27"/>
          <p:cNvSpPr/>
          <p:nvPr/>
        </p:nvSpPr>
        <p:spPr>
          <a:xfrm>
            <a:off x="4343400" y="1874520"/>
            <a:ext cx="338256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14"/>
          <p:cNvSpPr/>
          <p:nvPr/>
        </p:nvSpPr>
        <p:spPr>
          <a:xfrm>
            <a:off x="4526280" y="2057400"/>
            <a:ext cx="301680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🔍  Lack of Centralized Search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No structured categorization, location filtering, or digital indexing makes discovering matching items almost impossible.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29"/>
          <p:cNvSpPr/>
          <p:nvPr/>
        </p:nvSpPr>
        <p:spPr>
          <a:xfrm>
            <a:off x="731520" y="4160520"/>
            <a:ext cx="338256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8"/>
          <p:cNvSpPr/>
          <p:nvPr/>
        </p:nvSpPr>
        <p:spPr>
          <a:xfrm>
            <a:off x="914400" y="4343400"/>
            <a:ext cx="301680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🛡️  Privacy &amp; Harassment Risks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Broadcasting personal phone numbers on public social media invites spam calls, impersonation attempts, and security threats.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31"/>
          <p:cNvSpPr/>
          <p:nvPr/>
        </p:nvSpPr>
        <p:spPr>
          <a:xfrm>
            <a:off x="4343400" y="4160520"/>
            <a:ext cx="338256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0"/>
          <p:cNvSpPr/>
          <p:nvPr/>
        </p:nvSpPr>
        <p:spPr>
          <a:xfrm>
            <a:off x="4526280" y="4343400"/>
            <a:ext cx="301680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❌  Zero Structured Verification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No mechanism to verify true ownership before meetup; lack of mutual return confirmation causes fraudulent claims.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33"/>
          <p:cNvSpPr/>
          <p:nvPr/>
        </p:nvSpPr>
        <p:spPr>
          <a:xfrm>
            <a:off x="7955280" y="1874520"/>
            <a:ext cx="3504240" cy="434268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905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ounded Rectangle 34"/>
          <p:cNvSpPr/>
          <p:nvPr/>
        </p:nvSpPr>
        <p:spPr>
          <a:xfrm>
            <a:off x="8229600" y="2103120"/>
            <a:ext cx="2955600" cy="31932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THE LOST ITEM DILEMMA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6"/>
          <p:cNvSpPr/>
          <p:nvPr/>
        </p:nvSpPr>
        <p:spPr>
          <a:xfrm>
            <a:off x="8229600" y="2560320"/>
            <a:ext cx="295560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😰 Reality of Losing Valuables Today: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1. Realize wallet/keys/ID are gone 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2. Post panic messages in 12 Facebook groups 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3. Phone flooded with spam calls 📞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4. Visit 5 front desks; all shrug 🤷‍♂️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5. Hope drops to zero... 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en-US" sz="11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💡 Enter Findora: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One unified search, direct secure chat, verified return &amp; 100% peace of mind! 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1"/>
          <p:cNvSpPr/>
          <p:nvPr/>
        </p:nvSpPr>
        <p:spPr>
          <a:xfrm>
            <a:off x="839520" y="548640"/>
            <a:ext cx="10728000" cy="576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731520" y="548640"/>
            <a:ext cx="227880" cy="5760000"/>
          </a:xfrm>
          <a:prstGeom prst="rect">
            <a:avLst/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ounded Rectangle 3"/>
          <p:cNvSpPr/>
          <p:nvPr/>
        </p:nvSpPr>
        <p:spPr>
          <a:xfrm>
            <a:off x="1188720" y="868680"/>
            <a:ext cx="5302800" cy="36504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POKHARA UNIVERSITY  •  BCA 8TH SEMESTER PROJECT DEFENSE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1188720" y="1371600"/>
            <a:ext cx="658296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Lost and Found Made Simple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A Community-Driven  Mobile Platform for Verified Item Recovery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5"/>
          <p:cNvSpPr/>
          <p:nvPr/>
        </p:nvSpPr>
        <p:spPr>
          <a:xfrm>
            <a:off x="8229600" y="1051560"/>
            <a:ext cx="2742480" cy="210240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905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6" descr="findora_logo_rounded.png"/>
          <p:cNvPicPr/>
          <p:nvPr/>
        </p:nvPicPr>
        <p:blipFill>
          <a:blip r:embed="rId1"/>
          <a:stretch/>
        </p:blipFill>
        <p:spPr>
          <a:xfrm>
            <a:off x="8778240" y="1188720"/>
            <a:ext cx="1645200" cy="164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7"/>
          <p:cNvSpPr/>
          <p:nvPr/>
        </p:nvSpPr>
        <p:spPr>
          <a:xfrm>
            <a:off x="8229600" y="283464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Android App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8"/>
          <p:cNvSpPr/>
          <p:nvPr/>
        </p:nvSpPr>
        <p:spPr>
          <a:xfrm>
            <a:off x="1188720" y="3337560"/>
            <a:ext cx="4845600" cy="2696760"/>
          </a:xfrm>
          <a:prstGeom prst="roundRect">
            <a:avLst>
              <a:gd name="adj" fmla="val 16667"/>
            </a:avLst>
          </a:prstGeom>
          <a:solidFill>
            <a:srgbClr val="F8F7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1371600" y="3474720"/>
            <a:ext cx="447984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SUBMITTED BY: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Bibek Poudel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PU Symbol No: 22530187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Pratikshya Maske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PU Symbol No: 22530255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Sumina Pokhrel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PU Symbol No: 22530256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0"/>
          <p:cNvSpPr/>
          <p:nvPr/>
        </p:nvSpPr>
        <p:spPr>
          <a:xfrm>
            <a:off x="6217920" y="3337560"/>
            <a:ext cx="4845600" cy="2696760"/>
          </a:xfrm>
          <a:prstGeom prst="roundRect">
            <a:avLst>
              <a:gd name="adj" fmla="val 16667"/>
            </a:avLst>
          </a:prstGeom>
          <a:solidFill>
            <a:srgbClr val="F8F7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6400800" y="3474720"/>
            <a:ext cx="447984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PROJECT SUPERVISORS: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Mr. Anil Thapaliya  |  Mr. Shiva Pathak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Faculty, Department of Computer Application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000"/>
            </a:br>
            <a:r>
              <a:rPr lang="en-US" sz="10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SUBMITTED TO: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Department of Computer Application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Oxford College of Engineering and Management (OCEM)</a:t>
            </a:r>
            <a:br>
              <a:rPr sz="1000"/>
            </a:b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Gaidakot, Nawalpur, Nepal  |  September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2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02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3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TOPIC 01 • INTRODUCTION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Connecting Communities for Fast, Secure Item Recovery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Findora bridges the gap between individuals who lost valuables, people who found them, and administrators.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5"/>
          <p:cNvSpPr/>
          <p:nvPr/>
        </p:nvSpPr>
        <p:spPr>
          <a:xfrm>
            <a:off x="731520" y="1874520"/>
            <a:ext cx="3364200" cy="319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ounded Rectangle 6"/>
          <p:cNvSpPr/>
          <p:nvPr/>
        </p:nvSpPr>
        <p:spPr>
          <a:xfrm>
            <a:off x="868680" y="2011680"/>
            <a:ext cx="3089880" cy="68508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👤  ITEM OWNER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Who Lost Valuables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896040" y="2788920"/>
            <a:ext cx="303516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Instant Item Reporting: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Upload photos, set item category, location &amp; reward bounty.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Discover &amp; Search: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Filter by category, status, keyword &amp; location radius.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1-on-1 Secure Chat: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Coordinate directly with finder without public phone leakage.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Handover &amp; Rating: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Confirm physical return and award 5-star rating to finder.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8"/>
          <p:cNvSpPr/>
          <p:nvPr/>
        </p:nvSpPr>
        <p:spPr>
          <a:xfrm>
            <a:off x="4407480" y="1874520"/>
            <a:ext cx="3364200" cy="319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ounded Rectangle 9"/>
          <p:cNvSpPr/>
          <p:nvPr/>
        </p:nvSpPr>
        <p:spPr>
          <a:xfrm>
            <a:off x="4544640" y="2011680"/>
            <a:ext cx="3089880" cy="685080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12700">
            <a:solidFill>
              <a:srgbClr val="3C348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⚡  FINDORA PLATFORM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Core Digital Hub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4572000" y="2788920"/>
            <a:ext cx="3035160" cy="13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Native Android Client: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Responsive Java &amp; Material   user interface on mobile.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Django REST Application: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Stateless SimpleJWT authentication &amp; business logic.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Parent-Child Linking: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Direct linking of found reports against original lost posts.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Karma &amp; Points Engine: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Rewards honest finders with gamified badges and points.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1"/>
          <p:cNvSpPr/>
          <p:nvPr/>
        </p:nvSpPr>
        <p:spPr>
          <a:xfrm>
            <a:off x="8083440" y="1874520"/>
            <a:ext cx="3364200" cy="319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12"/>
          <p:cNvSpPr/>
          <p:nvPr/>
        </p:nvSpPr>
        <p:spPr>
          <a:xfrm>
            <a:off x="8220600" y="2011680"/>
            <a:ext cx="3089880" cy="68508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🤝  ITEM FINDER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Who Discovered Items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3"/>
          <p:cNvSpPr/>
          <p:nvPr/>
        </p:nvSpPr>
        <p:spPr>
          <a:xfrm>
            <a:off x="8247960" y="2788920"/>
            <a:ext cx="303516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Found Item Logging: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Post found items or link directly to an existing lost post.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Safe Communication: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Chat with owner privately to confirm proof of ownership.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Mutual Confirmation: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Tap 'Confirm Return' in-app during physical handover.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 Reputation Accrual: </a:t>
            </a: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Receive +50 Karma Points, unlock badges &amp; build trusted score.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4"/>
          <p:cNvSpPr/>
          <p:nvPr/>
        </p:nvSpPr>
        <p:spPr>
          <a:xfrm>
            <a:off x="731520" y="5257800"/>
            <a:ext cx="10728000" cy="114228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15"/>
          <p:cNvSpPr/>
          <p:nvPr/>
        </p:nvSpPr>
        <p:spPr>
          <a:xfrm>
            <a:off x="1005840" y="5349240"/>
            <a:ext cx="10179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🛡️  ADMINISTRATIVE OVERSIGHT &amp; PLATFORM GOVERNANCE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Django Admin oversees the entire ecosystem: moderates newly submitted listings, prevents fraudulent spam, validates ownership claims, audits payment transactions, and ensures a secure environment for all community participants.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2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04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3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TOPIC 03 • LITERATURE SURVEY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Comparative Analysis of Existing Recovery Methods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How Findora addresses the fundamental flaws of legacy lost-and-found practices.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731520" y="1874520"/>
            <a:ext cx="2925360" cy="41076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EXISTING APPROACH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6"/>
          <p:cNvSpPr/>
          <p:nvPr/>
        </p:nvSpPr>
        <p:spPr>
          <a:xfrm>
            <a:off x="3749040" y="1874520"/>
            <a:ext cx="3839760" cy="41076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CRITICAL LIMITATIONS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7"/>
          <p:cNvSpPr/>
          <p:nvPr/>
        </p:nvSpPr>
        <p:spPr>
          <a:xfrm>
            <a:off x="7680960" y="1874520"/>
            <a:ext cx="3961440" cy="41076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FINDORA'S TECHNOLOGICAL SOLUTION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8"/>
          <p:cNvSpPr/>
          <p:nvPr/>
        </p:nvSpPr>
        <p:spPr>
          <a:xfrm>
            <a:off x="731520" y="2377440"/>
            <a:ext cx="2925360" cy="867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868680" y="2468880"/>
            <a:ext cx="2651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Traditional Paper Registers &amp; Physical Boards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0"/>
          <p:cNvSpPr/>
          <p:nvPr/>
        </p:nvSpPr>
        <p:spPr>
          <a:xfrm>
            <a:off x="3749040" y="2377440"/>
            <a:ext cx="3839760" cy="867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3886200" y="2450520"/>
            <a:ext cx="356544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Confined to a single physical location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Zero search capability; manual log reading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High decay rate; discarded after weeks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2"/>
          <p:cNvSpPr/>
          <p:nvPr/>
        </p:nvSpPr>
        <p:spPr>
          <a:xfrm>
            <a:off x="7680960" y="2377440"/>
            <a:ext cx="3961440" cy="867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3"/>
          <p:cNvSpPr/>
          <p:nvPr/>
        </p:nvSpPr>
        <p:spPr>
          <a:xfrm>
            <a:off x="7818120" y="2450520"/>
            <a:ext cx="36871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Cloud-backed centralized database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Instant full-text search &amp; category filtering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Accessible anywhere via Android mobile app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4"/>
          <p:cNvSpPr/>
          <p:nvPr/>
        </p:nvSpPr>
        <p:spPr>
          <a:xfrm>
            <a:off x="731520" y="3319200"/>
            <a:ext cx="2925360" cy="867960"/>
          </a:xfrm>
          <a:prstGeom prst="roundRect">
            <a:avLst>
              <a:gd name="adj" fmla="val 16667"/>
            </a:avLst>
          </a:prstGeom>
          <a:solidFill>
            <a:srgbClr val="F8F7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868680" y="3410640"/>
            <a:ext cx="2651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Social Media Groups (Facebook / Viber / WhatsApp)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6"/>
          <p:cNvSpPr/>
          <p:nvPr/>
        </p:nvSpPr>
        <p:spPr>
          <a:xfrm>
            <a:off x="3749040" y="3319200"/>
            <a:ext cx="3839760" cy="867960"/>
          </a:xfrm>
          <a:prstGeom prst="roundRect">
            <a:avLst>
              <a:gd name="adj" fmla="val 16667"/>
            </a:avLst>
          </a:prstGeom>
          <a:solidFill>
            <a:srgbClr val="F8F7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7"/>
          <p:cNvSpPr/>
          <p:nvPr/>
        </p:nvSpPr>
        <p:spPr>
          <a:xfrm>
            <a:off x="3886200" y="3392280"/>
            <a:ext cx="356544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Unindexed chronological feeds (buried fast)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Public exposure of phone numbers &amp; identity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Prone to fraud and fake claim scammers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18"/>
          <p:cNvSpPr/>
          <p:nvPr/>
        </p:nvSpPr>
        <p:spPr>
          <a:xfrm>
            <a:off x="7680960" y="3319200"/>
            <a:ext cx="3961440" cy="867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9"/>
          <p:cNvSpPr/>
          <p:nvPr/>
        </p:nvSpPr>
        <p:spPr>
          <a:xfrm>
            <a:off x="7818120" y="3392280"/>
            <a:ext cx="36871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Structured parent-child item reporting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In-app 1-on-1 private encrypted chat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Zero personal phone number leakage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20"/>
          <p:cNvSpPr/>
          <p:nvPr/>
        </p:nvSpPr>
        <p:spPr>
          <a:xfrm>
            <a:off x="731520" y="4260960"/>
            <a:ext cx="2925360" cy="867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1"/>
          <p:cNvSpPr/>
          <p:nvPr/>
        </p:nvSpPr>
        <p:spPr>
          <a:xfrm>
            <a:off x="868680" y="4352400"/>
            <a:ext cx="2651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Generic Marketplaces &amp; Classifieds (Hamrobazar / OLX)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22"/>
          <p:cNvSpPr/>
          <p:nvPr/>
        </p:nvSpPr>
        <p:spPr>
          <a:xfrm>
            <a:off x="3749040" y="4260960"/>
            <a:ext cx="3839760" cy="867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3"/>
          <p:cNvSpPr/>
          <p:nvPr/>
        </p:nvSpPr>
        <p:spPr>
          <a:xfrm>
            <a:off x="3886200" y="4334400"/>
            <a:ext cx="356544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Optimized for sales, not lost recovery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No ownership verification or claim workflow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No return confirmation or incentive system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24"/>
          <p:cNvSpPr/>
          <p:nvPr/>
        </p:nvSpPr>
        <p:spPr>
          <a:xfrm>
            <a:off x="7680960" y="4260960"/>
            <a:ext cx="3961440" cy="867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5"/>
          <p:cNvSpPr/>
          <p:nvPr/>
        </p:nvSpPr>
        <p:spPr>
          <a:xfrm>
            <a:off x="7818120" y="4334400"/>
            <a:ext cx="36871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Dedicated Lost &amp; Found lifecycle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Admin listing moderation &amp; verification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Dual-confirmation handover workflow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26"/>
          <p:cNvSpPr/>
          <p:nvPr/>
        </p:nvSpPr>
        <p:spPr>
          <a:xfrm>
            <a:off x="731520" y="5203080"/>
            <a:ext cx="2925360" cy="867960"/>
          </a:xfrm>
          <a:prstGeom prst="roundRect">
            <a:avLst>
              <a:gd name="adj" fmla="val 16667"/>
            </a:avLst>
          </a:prstGeom>
          <a:solidFill>
            <a:srgbClr val="F8F7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7"/>
          <p:cNvSpPr/>
          <p:nvPr/>
        </p:nvSpPr>
        <p:spPr>
          <a:xfrm>
            <a:off x="868680" y="5294520"/>
            <a:ext cx="2651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Basic Google Forms / Static Web Forms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28"/>
          <p:cNvSpPr/>
          <p:nvPr/>
        </p:nvSpPr>
        <p:spPr>
          <a:xfrm>
            <a:off x="3749040" y="5203080"/>
            <a:ext cx="3839760" cy="867960"/>
          </a:xfrm>
          <a:prstGeom prst="roundRect">
            <a:avLst>
              <a:gd name="adj" fmla="val 16667"/>
            </a:avLst>
          </a:prstGeom>
          <a:solidFill>
            <a:srgbClr val="F8F7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29"/>
          <p:cNvSpPr/>
          <p:nvPr/>
        </p:nvSpPr>
        <p:spPr>
          <a:xfrm>
            <a:off x="3886200" y="5276160"/>
            <a:ext cx="356544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Static tabular data without interactivity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Requires manual admin matching &amp; emails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• No real-time chat, notifications, or rewards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30"/>
          <p:cNvSpPr/>
          <p:nvPr/>
        </p:nvSpPr>
        <p:spPr>
          <a:xfrm>
            <a:off x="7680960" y="5203080"/>
            <a:ext cx="3961440" cy="867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31"/>
          <p:cNvSpPr/>
          <p:nvPr/>
        </p:nvSpPr>
        <p:spPr>
          <a:xfrm>
            <a:off x="7818120" y="5276160"/>
            <a:ext cx="36871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Automated matching &amp; push/email notifications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Real-time direct chat between Owner &amp; Finder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✓ Finder Karma Points, Badges &amp; 5-Star Ratings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32"/>
          <p:cNvSpPr/>
          <p:nvPr/>
        </p:nvSpPr>
        <p:spPr>
          <a:xfrm>
            <a:off x="731520" y="5989320"/>
            <a:ext cx="10728000" cy="41076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🎯 Core Finding: Existing platforms lack structured return verification, privacy preservation, and finder incentives — exactly what Findora builds.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2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05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3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TOPIC 04 • OBJECTIVES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Primary Engineering Objectives of Findora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Targeted architectural and functional goals engineered into the platform.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5"/>
          <p:cNvSpPr/>
          <p:nvPr/>
        </p:nvSpPr>
        <p:spPr>
          <a:xfrm>
            <a:off x="731520" y="1920240"/>
            <a:ext cx="336420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ounded Rectangle 6"/>
          <p:cNvSpPr/>
          <p:nvPr/>
        </p:nvSpPr>
        <p:spPr>
          <a:xfrm>
            <a:off x="868680" y="2057400"/>
            <a:ext cx="3089880" cy="4107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📱  1. Simplify Item Reporting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7"/>
          <p:cNvSpPr/>
          <p:nvPr/>
        </p:nvSpPr>
        <p:spPr>
          <a:xfrm>
            <a:off x="914400" y="2560320"/>
            <a:ext cx="29984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Enable instant reporting of lost and found items with photo attachments, category taxonomy (wallets, phones, keys, IDs), and location metadata.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8"/>
          <p:cNvSpPr/>
          <p:nvPr/>
        </p:nvSpPr>
        <p:spPr>
          <a:xfrm>
            <a:off x="4407480" y="1920240"/>
            <a:ext cx="336420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ounded Rectangle 9"/>
          <p:cNvSpPr/>
          <p:nvPr/>
        </p:nvSpPr>
        <p:spPr>
          <a:xfrm>
            <a:off x="4544640" y="2057400"/>
            <a:ext cx="3089880" cy="4107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💬  2. Secure In-App Communication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4590360" y="2560320"/>
            <a:ext cx="29984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Provide private 1-on-1 real-time messaging between Owners and Finders, eliminating the need to expose personal phone numbers.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11"/>
          <p:cNvSpPr/>
          <p:nvPr/>
        </p:nvSpPr>
        <p:spPr>
          <a:xfrm>
            <a:off x="8083440" y="1920240"/>
            <a:ext cx="336420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ounded Rectangle 12"/>
          <p:cNvSpPr/>
          <p:nvPr/>
        </p:nvSpPr>
        <p:spPr>
          <a:xfrm>
            <a:off x="8220600" y="2057400"/>
            <a:ext cx="3089880" cy="4107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🤝  3. Dual-Confirmation Handover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3"/>
          <p:cNvSpPr/>
          <p:nvPr/>
        </p:nvSpPr>
        <p:spPr>
          <a:xfrm>
            <a:off x="8266320" y="2560320"/>
            <a:ext cx="29984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Implement a cryptographically sound dual-verification process where both Owner and Finder must confirm item handover to resolve cases.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14"/>
          <p:cNvSpPr/>
          <p:nvPr/>
        </p:nvSpPr>
        <p:spPr>
          <a:xfrm>
            <a:off x="731520" y="4206240"/>
            <a:ext cx="336420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ounded Rectangle 15"/>
          <p:cNvSpPr/>
          <p:nvPr/>
        </p:nvSpPr>
        <p:spPr>
          <a:xfrm>
            <a:off x="868680" y="4343400"/>
            <a:ext cx="3089880" cy="4107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⭐  4. Reputation &amp; Karma Incentives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6"/>
          <p:cNvSpPr/>
          <p:nvPr/>
        </p:nvSpPr>
        <p:spPr>
          <a:xfrm>
            <a:off x="914400" y="4846320"/>
            <a:ext cx="29984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Build a gamified Karma points ledger, badge milestones (Bronze to Platinum), and 5-star rating system to motivate community honesty.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7"/>
          <p:cNvSpPr/>
          <p:nvPr/>
        </p:nvSpPr>
        <p:spPr>
          <a:xfrm>
            <a:off x="4407480" y="4206240"/>
            <a:ext cx="336420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ounded Rectangle 18"/>
          <p:cNvSpPr/>
          <p:nvPr/>
        </p:nvSpPr>
        <p:spPr>
          <a:xfrm>
            <a:off x="4544640" y="4343400"/>
            <a:ext cx="3089880" cy="4107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🔔  5. Automated Contextual Alerts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9"/>
          <p:cNvSpPr/>
          <p:nvPr/>
        </p:nvSpPr>
        <p:spPr>
          <a:xfrm>
            <a:off x="4590360" y="4846320"/>
            <a:ext cx="29984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Deliver instantaneous multi-channel notifications for matching reports, admin verification statuses, and incoming chat messages.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20"/>
          <p:cNvSpPr/>
          <p:nvPr/>
        </p:nvSpPr>
        <p:spPr>
          <a:xfrm>
            <a:off x="8083440" y="4206240"/>
            <a:ext cx="336420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21"/>
          <p:cNvSpPr/>
          <p:nvPr/>
        </p:nvSpPr>
        <p:spPr>
          <a:xfrm>
            <a:off x="8220600" y="4343400"/>
            <a:ext cx="3089880" cy="4107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🛡️  6. Centralized Administration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2"/>
          <p:cNvSpPr/>
          <p:nvPr/>
        </p:nvSpPr>
        <p:spPr>
          <a:xfrm>
            <a:off x="8266320" y="4846320"/>
            <a:ext cx="29984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Equip platform administrators with Django Admin tooling for content moderation, fraud prevention, claim arbitration, and audit oversight.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2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06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3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TOPIC 05 • SYSTEM ARCHITECTURE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Multi-Tier Client-Server Architecture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Clean decoupling between Native Android Client, Django REST Application Tier, and Cloud Services.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5"/>
          <p:cNvSpPr/>
          <p:nvPr/>
        </p:nvSpPr>
        <p:spPr>
          <a:xfrm>
            <a:off x="731520" y="1920240"/>
            <a:ext cx="2513880" cy="397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ounded Rectangle 6"/>
          <p:cNvSpPr/>
          <p:nvPr/>
        </p:nvSpPr>
        <p:spPr>
          <a:xfrm>
            <a:off x="841320" y="2057400"/>
            <a:ext cx="2294280" cy="59364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📱  PRESENTATION TIER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868680" y="2743200"/>
            <a:ext cx="223956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Native Android Client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Java 17 + XML layouts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Retrofit 2 HTTP Client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REST API communication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SimpleJWT Token Store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Secure Bearer token auth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Glide Image Engine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Optimized media caching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8"/>
          <p:cNvSpPr/>
          <p:nvPr/>
        </p:nvSpPr>
        <p:spPr>
          <a:xfrm>
            <a:off x="3465720" y="1920240"/>
            <a:ext cx="2513880" cy="397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ounded Rectangle 9"/>
          <p:cNvSpPr/>
          <p:nvPr/>
        </p:nvSpPr>
        <p:spPr>
          <a:xfrm>
            <a:off x="3575160" y="2057400"/>
            <a:ext cx="2294280" cy="59364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3C348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⚙️  APPLICATION LOGIC TIER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0"/>
          <p:cNvSpPr/>
          <p:nvPr/>
        </p:nvSpPr>
        <p:spPr>
          <a:xfrm>
            <a:off x="3602880" y="2743200"/>
            <a:ext cx="223956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Django REST Framework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Modular viewsets &amp; serializers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JWT Auth &amp; Security Filters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Role-based access control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Business Logic Engine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Parent-child item linking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Reputation &amp; Karma Service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Points &amp; badge ledger engine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11"/>
          <p:cNvSpPr/>
          <p:nvPr/>
        </p:nvSpPr>
        <p:spPr>
          <a:xfrm>
            <a:off x="6199560" y="1920240"/>
            <a:ext cx="2513880" cy="397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ounded Rectangle 12"/>
          <p:cNvSpPr/>
          <p:nvPr/>
        </p:nvSpPr>
        <p:spPr>
          <a:xfrm>
            <a:off x="6309360" y="2057400"/>
            <a:ext cx="2294280" cy="59364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🗄️  PERSISTENCE TIER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3"/>
          <p:cNvSpPr/>
          <p:nvPr/>
        </p:nvSpPr>
        <p:spPr>
          <a:xfrm>
            <a:off x="6336720" y="2743200"/>
            <a:ext cx="223956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PostgreSQL Database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ACID transactional relational DB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Normalized 3NF Schema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Referential integrity &amp; constraints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Django ORM Abstraction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Optimized queries &amp; migrations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Audit &amp; Ledger Tables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Immutable point transactions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14"/>
          <p:cNvSpPr/>
          <p:nvPr/>
        </p:nvSpPr>
        <p:spPr>
          <a:xfrm>
            <a:off x="8933760" y="1920240"/>
            <a:ext cx="2513880" cy="397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ounded Rectangle 15"/>
          <p:cNvSpPr/>
          <p:nvPr/>
        </p:nvSpPr>
        <p:spPr>
          <a:xfrm>
            <a:off x="9043560" y="2057400"/>
            <a:ext cx="2294280" cy="59364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3C348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☁️  EXTERNAL CLOUD SERVICES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6"/>
          <p:cNvSpPr/>
          <p:nvPr/>
        </p:nvSpPr>
        <p:spPr>
          <a:xfrm>
            <a:off x="9070920" y="2743200"/>
            <a:ext cx="223956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Backblaze B2 Storage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S3-compatible persistent media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Brevo (Sendinblue)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SMTP &amp; API 6-digit OTP delivery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eSewa Payment Gateway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Secure digital wallet checkout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• Render Cloud Hosting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Gunicorn WSGI deployment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17"/>
          <p:cNvSpPr/>
          <p:nvPr/>
        </p:nvSpPr>
        <p:spPr>
          <a:xfrm>
            <a:off x="731520" y="6035040"/>
            <a:ext cx="10728000" cy="36504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FLOW:  Android App  ──(HTTPS / JSON REST)──&gt;  Django Backend  ──(SQL / ORM)──&gt;  PostgreSQL DB  ──(boto3 / S3)──&gt;  Backblaze B2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2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07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3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TOPIC 06 • TECH STACK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4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Proven, Modern Technologies Across the Entire Stack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Carefully selected frameworks for reliability, performance, and security.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5"/>
          <p:cNvSpPr/>
          <p:nvPr/>
        </p:nvSpPr>
        <p:spPr>
          <a:xfrm>
            <a:off x="731520" y="1920240"/>
            <a:ext cx="2513880" cy="434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ounded Rectangle 6"/>
          <p:cNvSpPr/>
          <p:nvPr/>
        </p:nvSpPr>
        <p:spPr>
          <a:xfrm>
            <a:off x="841320" y="2057400"/>
            <a:ext cx="2294280" cy="50220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📱 ANDROID FRONTEND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7"/>
          <p:cNvSpPr/>
          <p:nvPr/>
        </p:nvSpPr>
        <p:spPr>
          <a:xfrm>
            <a:off x="868680" y="2651760"/>
            <a:ext cx="223956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Java 17 (Native)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Core Android programming language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Android XML Layouts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Material 3 responsive UI components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Retrofit 2 &amp; OkHttp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Type-safe asynchronous HTTP client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Glide Image Loader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High-performance disk/memory caching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Android Studio IDE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Official native development suite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8"/>
          <p:cNvSpPr/>
          <p:nvPr/>
        </p:nvSpPr>
        <p:spPr>
          <a:xfrm>
            <a:off x="3465720" y="1920240"/>
            <a:ext cx="2513880" cy="434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ounded Rectangle 9"/>
          <p:cNvSpPr/>
          <p:nvPr/>
        </p:nvSpPr>
        <p:spPr>
          <a:xfrm>
            <a:off x="3575160" y="2057400"/>
            <a:ext cx="2294280" cy="502200"/>
          </a:xfrm>
          <a:prstGeom prst="roundRect">
            <a:avLst>
              <a:gd name="adj" fmla="val 16667"/>
            </a:avLst>
          </a:prstGeom>
          <a:solidFill>
            <a:srgbClr val="3C34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⚙️ BACKEND &amp; APIS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0"/>
          <p:cNvSpPr/>
          <p:nvPr/>
        </p:nvSpPr>
        <p:spPr>
          <a:xfrm>
            <a:off x="3602880" y="2651760"/>
            <a:ext cx="223956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Python 3.12+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Robust backend scripting language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Django 6.0 Web Framework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Enterprise MVT web architecture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Django REST Framework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Stateless JSON API serialization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SimpleJWT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HMAC-SHA256 bearer token security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Gunicorn &amp; Whitenoise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WSGI application server &amp; static host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1"/>
          <p:cNvSpPr/>
          <p:nvPr/>
        </p:nvSpPr>
        <p:spPr>
          <a:xfrm>
            <a:off x="6199560" y="1920240"/>
            <a:ext cx="2513880" cy="434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ounded Rectangle 12"/>
          <p:cNvSpPr/>
          <p:nvPr/>
        </p:nvSpPr>
        <p:spPr>
          <a:xfrm>
            <a:off x="6309360" y="2057400"/>
            <a:ext cx="2294280" cy="50220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🗄️ DATABASE &amp; STORAGE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3"/>
          <p:cNvSpPr/>
          <p:nvPr/>
        </p:nvSpPr>
        <p:spPr>
          <a:xfrm>
            <a:off x="6336720" y="2651760"/>
            <a:ext cx="223956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PostgreSQL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Production relational database engine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Django 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Type-safe object-relational mapping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Backblaze B2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Cloud Object Storage via Boto3 / S3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Brevo (Sendinblue)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Transactional SMTP / REST OTP API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eSewa SDK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Digital payment checkout integration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4"/>
          <p:cNvSpPr/>
          <p:nvPr/>
        </p:nvSpPr>
        <p:spPr>
          <a:xfrm>
            <a:off x="8933760" y="1920240"/>
            <a:ext cx="2513880" cy="434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ounded Rectangle 15"/>
          <p:cNvSpPr/>
          <p:nvPr/>
        </p:nvSpPr>
        <p:spPr>
          <a:xfrm>
            <a:off x="9043560" y="2057400"/>
            <a:ext cx="2294280" cy="502200"/>
          </a:xfrm>
          <a:prstGeom prst="roundRect">
            <a:avLst>
              <a:gd name="adj" fmla="val 16667"/>
            </a:avLst>
          </a:prstGeom>
          <a:solidFill>
            <a:srgbClr val="3C348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🛠️ DEVOPS &amp; TOOLS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6"/>
          <p:cNvSpPr/>
          <p:nvPr/>
        </p:nvSpPr>
        <p:spPr>
          <a:xfrm>
            <a:off x="9070920" y="2651760"/>
            <a:ext cx="223956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Git &amp; GitHub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Distributed version control &amp; workflow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Render Cloud Platform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Managed backend web service hosting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Postman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Automated API test suites &amp; mocks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DB Visualizer / DBeaver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Relational schema management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Figma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   UI/UX wireframes &amp; user flows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2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08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3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TOPIC 07 • APP SCREENSHOTS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4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Native Android Application &amp; Admin Interfaces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Real screenshots demonstrating Findora's responsive user experience and moderation portal.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5"/>
          <p:cNvSpPr/>
          <p:nvPr/>
        </p:nvSpPr>
        <p:spPr>
          <a:xfrm>
            <a:off x="731520" y="1874520"/>
            <a:ext cx="2925360" cy="443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ounded Rectangle 6"/>
          <p:cNvSpPr/>
          <p:nvPr/>
        </p:nvSpPr>
        <p:spPr>
          <a:xfrm>
            <a:off x="868680" y="1993320"/>
            <a:ext cx="2651040" cy="31932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Calibri"/>
              </a:rPr>
              <a:t>📱 Feed &amp; Category Search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Picture 7" descr="git_image-2.png"/>
          <p:cNvPicPr/>
          <p:nvPr/>
        </p:nvPicPr>
        <p:blipFill>
          <a:blip r:embed="rId1"/>
          <a:stretch/>
        </p:blipFill>
        <p:spPr>
          <a:xfrm>
            <a:off x="1097280" y="2377440"/>
            <a:ext cx="2193840" cy="338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8"/>
          <p:cNvSpPr/>
          <p:nvPr/>
        </p:nvSpPr>
        <p:spPr>
          <a:xfrm>
            <a:off x="868680" y="580644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Categorized item cards with filter chips, status badges &amp; instant search.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9"/>
          <p:cNvSpPr/>
          <p:nvPr/>
        </p:nvSpPr>
        <p:spPr>
          <a:xfrm>
            <a:off x="3840480" y="1874520"/>
            <a:ext cx="2925360" cy="443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ounded Rectangle 10"/>
          <p:cNvSpPr/>
          <p:nvPr/>
        </p:nvSpPr>
        <p:spPr>
          <a:xfrm>
            <a:off x="3977640" y="1993320"/>
            <a:ext cx="2651040" cy="31932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Calibri"/>
              </a:rPr>
              <a:t>🔍 Item Details &amp; Actions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Picture 11" descr="git_image-3.png"/>
          <p:cNvPicPr/>
          <p:nvPr/>
        </p:nvPicPr>
        <p:blipFill>
          <a:blip r:embed="rId2"/>
          <a:stretch/>
        </p:blipFill>
        <p:spPr>
          <a:xfrm>
            <a:off x="4206240" y="2377440"/>
            <a:ext cx="2193840" cy="338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Box 12"/>
          <p:cNvSpPr/>
          <p:nvPr/>
        </p:nvSpPr>
        <p:spPr>
          <a:xfrm>
            <a:off x="3977640" y="580644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Detailed photos, location tag, reward bounty &amp; direct 1-on-1 chat.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13"/>
          <p:cNvSpPr/>
          <p:nvPr/>
        </p:nvSpPr>
        <p:spPr>
          <a:xfrm>
            <a:off x="6949440" y="1874520"/>
            <a:ext cx="4510080" cy="443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ounded Rectangle 14"/>
          <p:cNvSpPr/>
          <p:nvPr/>
        </p:nvSpPr>
        <p:spPr>
          <a:xfrm>
            <a:off x="7132320" y="1993320"/>
            <a:ext cx="4144320" cy="31932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Calibri"/>
              </a:rPr>
              <a:t>🛡️ Django Admin Moderation &amp; Audit Console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Picture 15" descr="git_image-1.png"/>
          <p:cNvPicPr/>
          <p:nvPr/>
        </p:nvPicPr>
        <p:blipFill>
          <a:blip r:embed="rId3"/>
          <a:stretch/>
        </p:blipFill>
        <p:spPr>
          <a:xfrm>
            <a:off x="7132320" y="2423160"/>
            <a:ext cx="4144320" cy="310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Box 16"/>
          <p:cNvSpPr/>
          <p:nvPr/>
        </p:nvSpPr>
        <p:spPr>
          <a:xfrm>
            <a:off x="7132320" y="5715000"/>
            <a:ext cx="4144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Comprehensive moderation table: approve listings, resolve disputes, track point transactions, and audit payment records.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2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09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3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TOPIC 08 • INNOVATION &amp; USP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WHAT MAKES FINDORA DIFFERENT?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Key architectural innovations that set Findora apart from existing lost-and-found practices.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5"/>
          <p:cNvSpPr/>
          <p:nvPr/>
        </p:nvSpPr>
        <p:spPr>
          <a:xfrm>
            <a:off x="731520" y="1874520"/>
            <a:ext cx="338256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914400" y="2039040"/>
            <a:ext cx="301680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🔄  Linked Parent-Child Reports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When a Finder spots an item, they report directly against the Owner's existing lost listing, automatically associating records and alerting the owner instantly.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7"/>
          <p:cNvSpPr/>
          <p:nvPr/>
        </p:nvSpPr>
        <p:spPr>
          <a:xfrm>
            <a:off x="4343400" y="1874520"/>
            <a:ext cx="338256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4526280" y="2039040"/>
            <a:ext cx="301680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🤝  Dual-Confirmation Handover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Eliminates false recovery claims. Both Owner AND Finder must tap 'Confirm Handover' in their app before the item transitions to 'Resolved' status.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9"/>
          <p:cNvSpPr/>
          <p:nvPr/>
        </p:nvSpPr>
        <p:spPr>
          <a:xfrm>
            <a:off x="731520" y="4160520"/>
            <a:ext cx="338256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0"/>
          <p:cNvSpPr/>
          <p:nvPr/>
        </p:nvSpPr>
        <p:spPr>
          <a:xfrm>
            <a:off x="914400" y="4325040"/>
            <a:ext cx="301680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🎖️  Karma Points &amp; Tiered Badges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Immutable points ledger rewards honest community members (+50 pts on return). Earn badges: Good Samaritan, Silver Finder, Gold Finder &amp; Top Contributor.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11"/>
          <p:cNvSpPr/>
          <p:nvPr/>
        </p:nvSpPr>
        <p:spPr>
          <a:xfrm>
            <a:off x="4343400" y="4160520"/>
            <a:ext cx="3382560" cy="2056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2"/>
          <p:cNvSpPr/>
          <p:nvPr/>
        </p:nvSpPr>
        <p:spPr>
          <a:xfrm>
            <a:off x="4526280" y="4325040"/>
            <a:ext cx="301680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🔒  Zero-Exposure Private Chat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Direct real-time 1-on-1 messaging scoped to each specific item. Chat and share photos securely without broadcasting phone numbers or emails.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13"/>
          <p:cNvSpPr/>
          <p:nvPr/>
        </p:nvSpPr>
        <p:spPr>
          <a:xfrm>
            <a:off x="7955280" y="1874520"/>
            <a:ext cx="3504240" cy="434268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905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ounded Rectangle 14"/>
          <p:cNvSpPr/>
          <p:nvPr/>
        </p:nvSpPr>
        <p:spPr>
          <a:xfrm>
            <a:off x="8229600" y="2103120"/>
            <a:ext cx="2955600" cy="31932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⭐ THE COMMUNITY TRUST FACTOR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5"/>
          <p:cNvSpPr/>
          <p:nvPr/>
        </p:nvSpPr>
        <p:spPr>
          <a:xfrm>
            <a:off x="8229600" y="2560320"/>
            <a:ext cx="2955600" cy="35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Why Do Finders Return Items?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• 🏆 Verified Recognition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Finders earn public badges and 5-star ratings displayed on their profile.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• ⚡ Frictionless Process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No awkward phone calls or negotiations; structured in-app chat handles details.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• 🛡️ Safety &amp; Privacy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Zero risk of false accusations thanks to dual confirmation.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• 😊 'Faith in Humanity'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Turning stressful losses into rewarding community moments!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1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2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10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3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TOPIC 09 • REVENUE MODEL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4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Ethical &amp; Transparent Monetization: Featured Listings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100% Free Core Functionality with Optional Paid Promotion via eSewa Digital Wallet.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5"/>
          <p:cNvSpPr/>
          <p:nvPr/>
        </p:nvSpPr>
        <p:spPr>
          <a:xfrm>
            <a:off x="731520" y="1920240"/>
            <a:ext cx="3364200" cy="397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ounded Rectangle 6"/>
          <p:cNvSpPr/>
          <p:nvPr/>
        </p:nvSpPr>
        <p:spPr>
          <a:xfrm>
            <a:off x="868680" y="2057400"/>
            <a:ext cx="3089880" cy="59364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🆓  CORE SERVICE: 100% FREE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7"/>
          <p:cNvSpPr/>
          <p:nvPr/>
        </p:nvSpPr>
        <p:spPr>
          <a:xfrm>
            <a:off x="914400" y="2743200"/>
            <a:ext cx="299844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Free Lost &amp; Found Posting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Anyone can report lost or found items at zero cost.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Free In-App Chat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Unlimited 1-on-1 private messaging for all active items.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Free Search &amp; Filtering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Full access to category search, status filters &amp; location.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Free Verification &amp; Ratings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Dual-confirmation return flow is always completely free.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8"/>
          <p:cNvSpPr/>
          <p:nvPr/>
        </p:nvSpPr>
        <p:spPr>
          <a:xfrm>
            <a:off x="4407480" y="1920240"/>
            <a:ext cx="3364200" cy="397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ounded Rectangle 9"/>
          <p:cNvSpPr/>
          <p:nvPr/>
        </p:nvSpPr>
        <p:spPr>
          <a:xfrm>
            <a:off x="4544640" y="2057400"/>
            <a:ext cx="3089880" cy="593640"/>
          </a:xfrm>
          <a:prstGeom prst="roundRect">
            <a:avLst>
              <a:gd name="adj" fmla="val 16667"/>
            </a:avLst>
          </a:prstGeom>
          <a:solidFill>
            <a:srgbClr val="E0E7FF"/>
          </a:solidFill>
          <a:ln w="12700">
            <a:solidFill>
              <a:srgbClr val="3C348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🚀  ➕ OPTIONAL PAID PROMOTION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0"/>
          <p:cNvSpPr/>
          <p:nvPr/>
        </p:nvSpPr>
        <p:spPr>
          <a:xfrm>
            <a:off x="4590360" y="2743200"/>
            <a:ext cx="299844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Featured Placement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Pinned to the top of feed and search results for higher visibility.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Urgent Recovery Boost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Ideal for critical items (passports, laptops, keys, wallets).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Highlighted Badge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Visual 'FEATURED' badge attracts immediate finder attention.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Flexible Durations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Tiered promotion plans (e.g., 24 Hours, 3 Days, 7 Days).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11"/>
          <p:cNvSpPr/>
          <p:nvPr/>
        </p:nvSpPr>
        <p:spPr>
          <a:xfrm>
            <a:off x="8083440" y="1920240"/>
            <a:ext cx="3364200" cy="397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ounded Rectangle 12"/>
          <p:cNvSpPr/>
          <p:nvPr/>
        </p:nvSpPr>
        <p:spPr>
          <a:xfrm>
            <a:off x="8220600" y="2057400"/>
            <a:ext cx="3089880" cy="59364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💳  ═ SEAMLESS PAYMENT FLOW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3"/>
          <p:cNvSpPr/>
          <p:nvPr/>
        </p:nvSpPr>
        <p:spPr>
          <a:xfrm>
            <a:off x="8266320" y="2743200"/>
            <a:ext cx="299844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eSewa Digital Wallet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Integrated local payment gateway for instant secure checkout.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Server-Side Verification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Django backend verifies transaction token via eSewa API.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Instant Activation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Item automatically promoted to Featured upon payment success.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• Audited Ledger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   Every transaction logged with unique ID in Django Admin.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14"/>
          <p:cNvSpPr/>
          <p:nvPr/>
        </p:nvSpPr>
        <p:spPr>
          <a:xfrm>
            <a:off x="731520" y="6035040"/>
            <a:ext cx="10728000" cy="36504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BUSINESS PRINCIPLE:  Free Core Utility (High User Adoption)  +  Optional Paid Feature Promotion (Sustainable Revenue)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1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2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11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ounded Rectangle 3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SUPPORTING FLOW • ITEM LIFECYCLE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4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The Complete End-to-End Recovery Journey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Step-by-step progression from initial loss report to successful physical return and reputation reward.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5"/>
          <p:cNvSpPr/>
          <p:nvPr/>
        </p:nvSpPr>
        <p:spPr>
          <a:xfrm>
            <a:off x="731520" y="1920240"/>
            <a:ext cx="1645200" cy="301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Rounded Rectangle 6"/>
          <p:cNvSpPr/>
          <p:nvPr/>
        </p:nvSpPr>
        <p:spPr>
          <a:xfrm>
            <a:off x="822960" y="2057400"/>
            <a:ext cx="1462320" cy="6393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📱</a:t>
            </a:r>
            <a:br>
              <a:rPr sz="1000"/>
            </a:b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1. Report Filed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7"/>
          <p:cNvSpPr/>
          <p:nvPr/>
        </p:nvSpPr>
        <p:spPr>
          <a:xfrm>
            <a:off x="822960" y="2788920"/>
            <a:ext cx="146232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Owner posts lost item report with description, photos, location &amp; optional reward.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8"/>
          <p:cNvSpPr/>
          <p:nvPr/>
        </p:nvSpPr>
        <p:spPr>
          <a:xfrm>
            <a:off x="2541960" y="1920240"/>
            <a:ext cx="1645200" cy="301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ounded Rectangle 9"/>
          <p:cNvSpPr/>
          <p:nvPr/>
        </p:nvSpPr>
        <p:spPr>
          <a:xfrm>
            <a:off x="2633400" y="2057400"/>
            <a:ext cx="1462320" cy="6393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🛡️</a:t>
            </a:r>
            <a:br>
              <a:rPr sz="1000"/>
            </a:b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2. Admin Review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0"/>
          <p:cNvSpPr/>
          <p:nvPr/>
        </p:nvSpPr>
        <p:spPr>
          <a:xfrm>
            <a:off x="2633400" y="2788920"/>
            <a:ext cx="146232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Django Admin validates listing for safety and approves it for public visibility.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11"/>
          <p:cNvSpPr/>
          <p:nvPr/>
        </p:nvSpPr>
        <p:spPr>
          <a:xfrm>
            <a:off x="4352400" y="1920240"/>
            <a:ext cx="1645200" cy="301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ounded Rectangle 12"/>
          <p:cNvSpPr/>
          <p:nvPr/>
        </p:nvSpPr>
        <p:spPr>
          <a:xfrm>
            <a:off x="4443840" y="2057400"/>
            <a:ext cx="1462320" cy="6393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🔍</a:t>
            </a:r>
            <a:br>
              <a:rPr sz="1000"/>
            </a:b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3. Match &amp; Link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3"/>
          <p:cNvSpPr/>
          <p:nvPr/>
        </p:nvSpPr>
        <p:spPr>
          <a:xfrm>
            <a:off x="4443840" y="2788920"/>
            <a:ext cx="146232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Finder discovers item and submits linked report or initiates in-app chat.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14"/>
          <p:cNvSpPr/>
          <p:nvPr/>
        </p:nvSpPr>
        <p:spPr>
          <a:xfrm>
            <a:off x="6163200" y="1920240"/>
            <a:ext cx="1645200" cy="301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ounded Rectangle 15"/>
          <p:cNvSpPr/>
          <p:nvPr/>
        </p:nvSpPr>
        <p:spPr>
          <a:xfrm>
            <a:off x="6254640" y="2057400"/>
            <a:ext cx="1462320" cy="6393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💬</a:t>
            </a:r>
            <a:br>
              <a:rPr sz="1000"/>
            </a:b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4. Secure Chat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6"/>
          <p:cNvSpPr/>
          <p:nvPr/>
        </p:nvSpPr>
        <p:spPr>
          <a:xfrm>
            <a:off x="6254640" y="2788920"/>
            <a:ext cx="146232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Owner &amp; Finder verify proof details via 1-on-1 in-app chat &amp; arrange meetup.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ounded Rectangle 17"/>
          <p:cNvSpPr/>
          <p:nvPr/>
        </p:nvSpPr>
        <p:spPr>
          <a:xfrm>
            <a:off x="7973640" y="1920240"/>
            <a:ext cx="1645200" cy="301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Rounded Rectangle 18"/>
          <p:cNvSpPr/>
          <p:nvPr/>
        </p:nvSpPr>
        <p:spPr>
          <a:xfrm>
            <a:off x="8065080" y="2057400"/>
            <a:ext cx="1462320" cy="6393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🤝</a:t>
            </a:r>
            <a:br>
              <a:rPr sz="1000"/>
            </a:br>
            <a:r>
              <a:rPr lang="en-US" sz="10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5. Dual Confirm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9"/>
          <p:cNvSpPr/>
          <p:nvPr/>
        </p:nvSpPr>
        <p:spPr>
          <a:xfrm>
            <a:off x="8065080" y="2788920"/>
            <a:ext cx="146232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Both parties tap 'Confirm Return' in-app during physical handover.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20"/>
          <p:cNvSpPr/>
          <p:nvPr/>
        </p:nvSpPr>
        <p:spPr>
          <a:xfrm>
            <a:off x="9784080" y="1920240"/>
            <a:ext cx="1645200" cy="3016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ounded Rectangle 21"/>
          <p:cNvSpPr/>
          <p:nvPr/>
        </p:nvSpPr>
        <p:spPr>
          <a:xfrm>
            <a:off x="9875520" y="2057400"/>
            <a:ext cx="1462320" cy="6393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⭐</a:t>
            </a:r>
            <a:br>
              <a:rPr sz="1000"/>
            </a:b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6. Karma &amp; Rate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2"/>
          <p:cNvSpPr/>
          <p:nvPr/>
        </p:nvSpPr>
        <p:spPr>
          <a:xfrm>
            <a:off x="9875520" y="2788920"/>
            <a:ext cx="146232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Item is marked 'Resolved'; Finder earns +50 Karma Points &amp; 5-Star Rating.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23"/>
          <p:cNvSpPr/>
          <p:nvPr/>
        </p:nvSpPr>
        <p:spPr>
          <a:xfrm>
            <a:off x="731520" y="5074920"/>
            <a:ext cx="10728000" cy="127944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24"/>
          <p:cNvSpPr/>
          <p:nvPr/>
        </p:nvSpPr>
        <p:spPr>
          <a:xfrm>
            <a:off x="1005840" y="5166360"/>
            <a:ext cx="101793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🔒 WHY THE DUAL-CONFIRMATION WORKFLOW MATTERS: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In conventional systems, one party can falsely claim an item was returned or stolen. Findora's dual-confirmation requirement guarantees transactional integrity: the Django backend only awards Karma points, updates status to 'Resolved', and triggers rating prompts when BOTH cryptographic confirmation flags are set to True.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1"/>
          <p:cNvSpPr/>
          <p:nvPr/>
        </p:nvSpPr>
        <p:spPr>
          <a:xfrm>
            <a:off x="731520" y="365760"/>
            <a:ext cx="1072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FINDORA  •  BCA 8TH SEMESTER PROJECT DEFENSE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2"/>
          <p:cNvSpPr/>
          <p:nvPr/>
        </p:nvSpPr>
        <p:spPr>
          <a:xfrm>
            <a:off x="10789920" y="365760"/>
            <a:ext cx="68508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12 /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ounded Rectangle 3"/>
          <p:cNvSpPr/>
          <p:nvPr/>
        </p:nvSpPr>
        <p:spPr>
          <a:xfrm>
            <a:off x="731520" y="713160"/>
            <a:ext cx="2925360" cy="29196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>
            <a:solidFill>
              <a:srgbClr val="534AB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  TOPIC 10 • CONCLUSION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4"/>
          <p:cNvSpPr/>
          <p:nvPr/>
        </p:nvSpPr>
        <p:spPr>
          <a:xfrm>
            <a:off x="731520" y="1051560"/>
            <a:ext cx="1072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B4B"/>
                </a:solidFill>
                <a:effectLst/>
                <a:uFillTx/>
                <a:latin typeface="Segoe UI"/>
              </a:rPr>
              <a:t>Conclusion &amp; Future Innovations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Summarizing project achievements and outlining the roadmap for Findora.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5"/>
          <p:cNvSpPr/>
          <p:nvPr/>
        </p:nvSpPr>
        <p:spPr>
          <a:xfrm>
            <a:off x="731520" y="1874520"/>
            <a:ext cx="5211360" cy="2925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6"/>
          <p:cNvSpPr/>
          <p:nvPr/>
        </p:nvSpPr>
        <p:spPr>
          <a:xfrm>
            <a:off x="960120" y="2011680"/>
            <a:ext cx="475416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534AB7"/>
                </a:solidFill>
                <a:effectLst/>
                <a:uFillTx/>
                <a:latin typeface="Segoe UI"/>
              </a:rPr>
              <a:t>🎯 PROJECT ACHIEVEMENTS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✓  Delivered a fully functional native Android app &amp; Django REST API.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✓  Solved traditional lost-and-found chaos with structured workflows.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✓  Engineered dual-confirmation handover eliminating false claims.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✓  Implemented gamified Karma Points, Badges &amp; 5-Star Ratings.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✓  Integrated Backblaze B2, Brevo OTP &amp; eSewa payment gateway.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7"/>
          <p:cNvSpPr/>
          <p:nvPr/>
        </p:nvSpPr>
        <p:spPr>
          <a:xfrm>
            <a:off x="6248160" y="1874520"/>
            <a:ext cx="5211360" cy="2925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8"/>
          <p:cNvSpPr/>
          <p:nvPr/>
        </p:nvSpPr>
        <p:spPr>
          <a:xfrm>
            <a:off x="6473880" y="2011680"/>
            <a:ext cx="475416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C3489"/>
                </a:solidFill>
                <a:effectLst/>
                <a:uFillTx/>
                <a:latin typeface="Segoe UI"/>
              </a:rPr>
              <a:t>🔮 FUTURE ENHANCEMENTS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🚀  AI Image Matching: Automated similarity matching using visual vectors.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🚀  Interactive Geofencing: Radius-based map push alerts for lost items.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🚀  Dynamic QR Item Tags: Printable QR stickers for personal belongings.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🚀  Multi-lingual Localization: Full Nepali language support for wider reach.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🚀  Voice Search Integration: Hands-free speech recognition for item queries.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9"/>
          <p:cNvSpPr/>
          <p:nvPr/>
        </p:nvSpPr>
        <p:spPr>
          <a:xfrm>
            <a:off x="731520" y="4983480"/>
            <a:ext cx="10728000" cy="1370880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 w="25400">
            <a:solidFill>
              <a:srgbClr val="3C348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0"/>
          <p:cNvSpPr/>
          <p:nvPr/>
        </p:nvSpPr>
        <p:spPr>
          <a:xfrm>
            <a:off x="914400" y="5074920"/>
            <a:ext cx="103622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EEEDFE"/>
                </a:solidFill>
                <a:effectLst/>
                <a:uFillTx/>
                <a:latin typeface="Segoe UI"/>
              </a:rPr>
              <a:t>OWNER  +  FINDER  +  ADMIN   ───▶   FINDORA   ───▶   SUCCESSFUL RECOVERY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THANK YOU!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E0E7FF"/>
                </a:solidFill>
                <a:effectLst/>
                <a:uFillTx/>
                <a:latin typeface="Segoe UI"/>
              </a:rPr>
              <a:t>Questions &amp; Feedback are Welcome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Application>LibreOffice/26.2.1.2$Windows_X86_64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2026-09-09T20:03:14Z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