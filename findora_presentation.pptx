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4464F65-8F5F-4A94-8015-A16699169C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F52540-CD83-4701-9AD9-DEF1E7D4D9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0A3E309-C5D6-4EE0-832B-5EFDB862C2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4AC5594-ABD2-4241-A502-EBE365334D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CA70BC-2920-433E-AF43-FCD7FF7210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95247D6-622B-4095-8B03-94BF7DE59F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208D441-F236-4F75-A292-F3E1CB7214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7FB789-937D-410E-9044-3F2081C0F7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287251-5416-4565-BB0D-52148F2615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3B4CADE-2EAD-4D4E-9066-C9B4C4E5B1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7D3982A-7E27-43D2-8CEF-30174B0671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25200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731520" y="731520"/>
            <a:ext cx="6948720" cy="539424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6576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POKHARA UNIVERSITY  •  BCA 8TH SEMESTER PROJECT DEFENSE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4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FINDORA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18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Community-Driven Lost and Found Platform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 secure, verified digital ecosystem uniting item owners, honest finders, and platform administrators with secret question claim verification, real-time in-app chat, dual-confirmation return handshakes, and karma reputation incentives.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College: Oxford College of Engineering and Management, Gaidakot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Project Supervisors: Mr. Anil Thapaliya  |  Mr. Shiva Pathak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Submitted By: Laxman Rawat(22530204) , Bivek Kafle(22530190 )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3"/>
          <p:cNvSpPr/>
          <p:nvPr/>
        </p:nvSpPr>
        <p:spPr>
          <a:xfrm>
            <a:off x="8001000" y="685800"/>
            <a:ext cx="3428280" cy="5439960"/>
          </a:xfrm>
          <a:prstGeom prst="roundRect">
            <a:avLst>
              <a:gd name="adj" fmla="val 16667"/>
            </a:avLst>
          </a:prstGeom>
          <a:solidFill>
            <a:srgbClr val="25304D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7" descr="git_image-2.png"/>
          <p:cNvPicPr/>
          <p:nvPr/>
        </p:nvPicPr>
        <p:blipFill>
          <a:blip r:embed="rId1"/>
          <a:stretch/>
        </p:blipFill>
        <p:spPr>
          <a:xfrm>
            <a:off x="8458200" y="1371600"/>
            <a:ext cx="2650320" cy="408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01 • PROBLEM STATEMENT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The Crisis of Lost Valuables &amp; Broken Traditional Channels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02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ounded Rectangle 6"/>
          <p:cNvSpPr/>
          <p:nvPr/>
        </p:nvSpPr>
        <p:spPr>
          <a:xfrm>
            <a:off x="731520" y="1554480"/>
            <a:ext cx="33368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F8717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❌ Fragmented &amp; Chaotic Channels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Buried Social Posts: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Posts in Facebook or Viber groups are quickly buried by new feeds within minutes.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Scattered Lost &amp; Found Records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Lost items at university departments or reception desks remain isolated with no digital registry.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No Search Mechanism: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Victims cannot filter by category, date, or location, making recovery heavily dependent on luck.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7"/>
          <p:cNvSpPr/>
          <p:nvPr/>
        </p:nvSpPr>
        <p:spPr>
          <a:xfrm>
            <a:off x="4416480" y="1554480"/>
            <a:ext cx="33368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⚠️ False Claims &amp; Identity Fraud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Zero Verification: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Traditional methods allow anyone to falsely claim high-value items without ownership proof.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Privacy Exposure: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Owners and finders are forced to post personal phone numbers publicly, attracting spam and scams.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Unverifiable Handover: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No records exist to prove whether an item was successfully returned or stolen.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8101440" y="1554480"/>
            <a:ext cx="33368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📉 Lack of Finder Motivation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High Effort, Zero Reward: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Finders spend personal time searching for owners with no social recognition or reward.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Communication Problems  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Awkward cold calls and meeting strangers without an in-app secure coordination channel.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Items Left Unreturned 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Valuable items remain unreturned in drawers because finding the owner is too tedious.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-1143000" y="-22860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02 • PROPOSED SOLUTION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Findora: The Smart, Verified Lost &amp; Found Platform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03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ounded Rectangle 6"/>
          <p:cNvSpPr/>
          <p:nvPr/>
        </p:nvSpPr>
        <p:spPr>
          <a:xfrm>
            <a:off x="731520" y="1554480"/>
            <a:ext cx="685728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4 Core Solution Pillars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1. Centralized Lost &amp; Found System   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Categorized feed with instant keyword search, category chips, status tags (LOST/FOUND), and GPS map pinning.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2. Secret Question Proof Verification: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Finders configure a secret verification question (e.g. lockscreen wallpaper, serial digit) that only the authentic owner can answer.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3. Dual-Confirmation Handshake: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Eliminates false recovery claims. Both Owner AND Finder must tap 'Confirm Return' in-app during physical handover.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4. Reward &amp; Rating System   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Rewards honest finders with +50 Karma Points, 5-Star Ratings, and Tiered Badges (Good Samaritan, Top Finder, Trusted Finder).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7"/>
          <p:cNvSpPr/>
          <p:nvPr/>
        </p:nvSpPr>
        <p:spPr>
          <a:xfrm>
            <a:off x="7863840" y="1554480"/>
            <a:ext cx="3565440" cy="4754160"/>
          </a:xfrm>
          <a:prstGeom prst="roundRect">
            <a:avLst>
              <a:gd name="adj" fmla="val 16667"/>
            </a:avLst>
          </a:prstGeom>
          <a:solidFill>
            <a:srgbClr val="25304D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0" name="Picture 1" descr="git_image-2.png"/>
          <p:cNvPicPr/>
          <p:nvPr/>
        </p:nvPicPr>
        <p:blipFill>
          <a:blip r:embed="rId1"/>
          <a:stretch/>
        </p:blipFill>
        <p:spPr>
          <a:xfrm>
            <a:off x="8458200" y="1856880"/>
            <a:ext cx="2650320" cy="408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03 • SYSTEM ARCHITECTURE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Multi-Tiered Architectural Blueprint &amp; Data Flow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04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ounded Rectangle 6"/>
          <p:cNvSpPr/>
          <p:nvPr/>
        </p:nvSpPr>
        <p:spPr>
          <a:xfrm>
            <a:off x="4125240" y="1646640"/>
            <a:ext cx="475416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Architectural Layers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Presentation Tier: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Native Android Java client with Material 3 UI, ViewBinding, and 0ms in-memory cache.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Application Tier: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Django REST Framework backend running on Gunicorn WSGI server handling stateless JSON APIs.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Data Tier: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PostgreSQL relational database normalized to 3NF ensuring ACID-compliant transactional integrity.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Cloud Storage &amp; Media: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Backblaze B2 Object Storage (S3-compatible) storing encrypted high-resolution photos.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Authentication &amp; OTP: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HMAC-SHA256 JWT bearer tokens &amp; Brevo transactional email OTP gateway.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04 • CONCEPTUAL MODELS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System Actors, Roles &amp; Use Case Flow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05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ounded Rectangle 6"/>
          <p:cNvSpPr/>
          <p:nvPr/>
        </p:nvSpPr>
        <p:spPr>
          <a:xfrm>
            <a:off x="731520" y="1554480"/>
            <a:ext cx="475416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3 Primary User Roles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👤 Item Owner: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Posts lost item reports, searches feed, answers secret proof questions, confirms return, and rates finders.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🔍 Item Finder: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Posts discovered items with mandatory photo, sets secret ownership question, chats in-app, confirms handover, and earns Karma Points.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🛡️ Platform Administrator: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Moderates reported items, inspects evidence photos, resolves disputed claims, oversees user trust scores, and audits transactions.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7"/>
          <p:cNvSpPr/>
          <p:nvPr/>
        </p:nvSpPr>
        <p:spPr>
          <a:xfrm>
            <a:off x="5760720" y="1554480"/>
            <a:ext cx="5668560" cy="4754160"/>
          </a:xfrm>
          <a:prstGeom prst="roundRect">
            <a:avLst>
              <a:gd name="adj" fmla="val 16667"/>
            </a:avLst>
          </a:prstGeom>
          <a:solidFill>
            <a:srgbClr val="25304D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Picture 8" descr="img_0.png"/>
          <p:cNvPicPr/>
          <p:nvPr/>
        </p:nvPicPr>
        <p:blipFill>
          <a:blip r:embed="rId1"/>
          <a:stretch/>
        </p:blipFill>
        <p:spPr>
          <a:xfrm>
            <a:off x="5943600" y="1737360"/>
            <a:ext cx="5302800" cy="387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05 • TECHNOLOGY STACK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Proven, Modern &amp; Scalable Technology Stack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06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ounded Rectangle 6"/>
          <p:cNvSpPr/>
          <p:nvPr/>
        </p:nvSpPr>
        <p:spPr>
          <a:xfrm>
            <a:off x="731520" y="1554480"/>
            <a:ext cx="5165640" cy="22395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📱 Native Android Frontend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Java 17 (Native):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Native performance, zero bridge overhead, 60 FPS UI.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ViewBinding &amp; Material 3: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Type-safe view access, modern dark theme components.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Retrofit 2 &amp; OkHttp 3: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Type-safe asynchronous REST networking with token interceptors.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Glide Image Loader: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Hardware bitmap decoding with L1 memory &amp; L2 disk caching.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7"/>
          <p:cNvSpPr/>
          <p:nvPr/>
        </p:nvSpPr>
        <p:spPr>
          <a:xfrm>
            <a:off x="6263640" y="1554480"/>
            <a:ext cx="5165640" cy="22395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⚙️ Backend &amp; API Services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Python 3.12 &amp; Django 5.1/6.0: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Robust enterprise web framework with built-in ORM.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Django REST Framework: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Stateless JSON serializers, viewsets, and permissions.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SimpleJWT Authentication: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Stateless HMAC-SHA256 access &amp; refresh bearer tokens.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Gunicorn &amp; Whitenoise: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High-concurrency WSGI application server with static asset engine.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8"/>
          <p:cNvSpPr/>
          <p:nvPr/>
        </p:nvSpPr>
        <p:spPr>
          <a:xfrm>
            <a:off x="731520" y="4069080"/>
            <a:ext cx="5165640" cy="22395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🗄️ Database &amp; Cloud Infrastructure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PostgreSQL Database: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ACID-compliant relational database normalized to 3NF.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Backblaze B2 Cloud Storage: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S3-compatible encrypted cloud bucket for user photos.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Brevo (Sendinblue) API: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High-deliverability transactional email service for OTP verification.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9"/>
          <p:cNvSpPr/>
          <p:nvPr/>
        </p:nvSpPr>
        <p:spPr>
          <a:xfrm>
            <a:off x="6263640" y="4069080"/>
            <a:ext cx="5165640" cy="22395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🛠️ Payments &amp; DevOps Pipeline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eSewa Payment Gateway: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Digital wallet integration for optional paid featured listings.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Render Cloud Platform: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Managed automated continuous deployment with health checks.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1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Git, GitHub &amp; Postman: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Branch-based team version control and automated API test collections.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06 • APP WALKTHROUGH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Mobile Experience: Discovery, Search &amp; Item Details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07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6"/>
          <p:cNvSpPr/>
          <p:nvPr/>
        </p:nvSpPr>
        <p:spPr>
          <a:xfrm>
            <a:off x="731520" y="1554480"/>
            <a:ext cx="475416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Key UI &amp; Functional Features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Instant Live Search: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Real-time search filtering listings dynamically by title, keyword, or landmark.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Category Filter Chips: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Quick toggles for Electronics, Wallets, Documents, Keys, Books, and Others.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Status Badges: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High-contrast visual tags indicating 'LOST' (red) and 'FOUND' (green) states.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Google Maps Pinning: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'View Map' button opening external Google Maps at exact item coordinates.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Contact &amp; Claim Actions: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Direct triggers for 1-on-1 private chat and secret question verification.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7"/>
          <p:cNvSpPr/>
          <p:nvPr/>
        </p:nvSpPr>
        <p:spPr>
          <a:xfrm>
            <a:off x="5760720" y="1554480"/>
            <a:ext cx="5668560" cy="4754160"/>
          </a:xfrm>
          <a:prstGeom prst="roundRect">
            <a:avLst>
              <a:gd name="adj" fmla="val 16667"/>
            </a:avLst>
          </a:prstGeom>
          <a:solidFill>
            <a:srgbClr val="25304D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1" name="Picture 8" descr="finder dashboards 5.png"/>
          <p:cNvPicPr/>
          <p:nvPr/>
        </p:nvPicPr>
        <p:blipFill>
          <a:blip r:embed="rId1"/>
          <a:stretch/>
        </p:blipFill>
        <p:spPr>
          <a:xfrm>
            <a:off x="6035040" y="1691640"/>
            <a:ext cx="2376720" cy="381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9" descr="finderac 4.png"/>
          <p:cNvPicPr/>
          <p:nvPr/>
        </p:nvPicPr>
        <p:blipFill>
          <a:blip r:embed="rId2"/>
          <a:stretch/>
        </p:blipFill>
        <p:spPr>
          <a:xfrm>
            <a:off x="8686800" y="1691640"/>
            <a:ext cx="2376720" cy="386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07 • APP WALKTHROUGH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Mobile Experience: Lost &amp; Found Item Reporting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08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ounded Rectangle 6"/>
          <p:cNvSpPr/>
          <p:nvPr/>
        </p:nvSpPr>
        <p:spPr>
          <a:xfrm>
            <a:off x="731520" y="1554480"/>
            <a:ext cx="475416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Structured Reporting Workflows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Report Lost Item: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Capture category, distinct descriptors, date/time lost, location context, and optional photos.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Report Found Item: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Mandatory clear photo capture with camera/gallery image compression.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Secret Proof Question: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Finder sets a custom validation question (e.g. 'What is written on the back of the card?') to stop false claims.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0ms Cache Sync: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Instant in-memory cache update ensures newly created items appear on the feed without latency.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7"/>
          <p:cNvSpPr/>
          <p:nvPr/>
        </p:nvSpPr>
        <p:spPr>
          <a:xfrm>
            <a:off x="5760720" y="1554480"/>
            <a:ext cx="5668560" cy="4754160"/>
          </a:xfrm>
          <a:prstGeom prst="roundRect">
            <a:avLst>
              <a:gd name="adj" fmla="val 16667"/>
            </a:avLst>
          </a:prstGeom>
          <a:solidFill>
            <a:srgbClr val="25304D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0" name="Picture 8" descr="report lost item.png"/>
          <p:cNvPicPr/>
          <p:nvPr/>
        </p:nvPicPr>
        <p:blipFill>
          <a:blip r:embed="rId1"/>
          <a:stretch/>
        </p:blipFill>
        <p:spPr>
          <a:xfrm>
            <a:off x="6035040" y="1691640"/>
            <a:ext cx="2376720" cy="358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9" descr="reporting found item 6.png"/>
          <p:cNvPicPr/>
          <p:nvPr/>
        </p:nvPicPr>
        <p:blipFill>
          <a:blip r:embed="rId2"/>
          <a:stretch/>
        </p:blipFill>
        <p:spPr>
          <a:xfrm>
            <a:off x="8686800" y="1691640"/>
            <a:ext cx="2376720" cy="415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08 • APP WALKTHROUGH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Mobile Experience: Claiming, Real-Time Chat &amp; Return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09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6"/>
          <p:cNvSpPr/>
          <p:nvPr/>
        </p:nvSpPr>
        <p:spPr>
          <a:xfrm>
            <a:off x="731520" y="1554480"/>
            <a:ext cx="475416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Safe Communication &amp; Handover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Secret Proof Claiming: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Claimant submits private answer to secret question along with optional receipts or ID proof.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1-on-1 In-App Messaging: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Real-time chat with sent/received bubbles, photo attachment, and edit/delete context options.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Dual Confirmation Handshake: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Both Owner &amp; Finder tap 'Confirm Return' in-app during physical handover to resolve item.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Karma Points &amp; Rating: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Finder automatically receives +50 Karma Points and public 5-Star Rating upon resolution.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7"/>
          <p:cNvSpPr/>
          <p:nvPr/>
        </p:nvSpPr>
        <p:spPr>
          <a:xfrm>
            <a:off x="5760720" y="1554480"/>
            <a:ext cx="5668560" cy="4754160"/>
          </a:xfrm>
          <a:prstGeom prst="roundRect">
            <a:avLst>
              <a:gd name="adj" fmla="val 16667"/>
            </a:avLst>
          </a:prstGeom>
          <a:solidFill>
            <a:srgbClr val="25304D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8" descr="report item 3.png"/>
          <p:cNvPicPr/>
          <p:nvPr/>
        </p:nvPicPr>
        <p:blipFill>
          <a:blip r:embed="rId1"/>
          <a:stretch/>
        </p:blipFill>
        <p:spPr>
          <a:xfrm>
            <a:off x="6035040" y="1691640"/>
            <a:ext cx="2376720" cy="395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Picture 9" descr="chat.png"/>
          <p:cNvPicPr/>
          <p:nvPr/>
        </p:nvPicPr>
        <p:blipFill>
          <a:blip r:embed="rId2"/>
          <a:stretch/>
        </p:blipFill>
        <p:spPr>
          <a:xfrm>
            <a:off x="8686800" y="1691640"/>
            <a:ext cx="2376720" cy="385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09 • ADMIN CONSOLE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Web Administrator: Moderation, Dispute &amp; Analytics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10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ounded Rectangle 6"/>
          <p:cNvSpPr/>
          <p:nvPr/>
        </p:nvSpPr>
        <p:spPr>
          <a:xfrm>
            <a:off x="731520" y="1554480"/>
            <a:ext cx="438840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Centralized Platform Oversight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Item Moderation Registry: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Comprehensive table of all reports with filters (Pending, Approved, Flagged, Resolved).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Evidence &amp; Proof Audit: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Side-by-side inspection of found item photos, claimant proofs, and secret answers.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Dispute Resolution Override: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Administrative controls to mediate conflicting claims and prevent fraudulent takeovers.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Platform Health &amp; Analytics: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Real-time metrics on registered users, active reports, return rates, and server latency.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7"/>
          <p:cNvSpPr/>
          <p:nvPr/>
        </p:nvSpPr>
        <p:spPr>
          <a:xfrm>
            <a:off x="5394960" y="1554480"/>
            <a:ext cx="6034320" cy="4754160"/>
          </a:xfrm>
          <a:prstGeom prst="roundRect">
            <a:avLst>
              <a:gd name="adj" fmla="val 16667"/>
            </a:avLst>
          </a:prstGeom>
          <a:solidFill>
            <a:srgbClr val="25304D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8" name="Picture 8" descr="verify item1.png"/>
          <p:cNvPicPr/>
          <p:nvPr/>
        </p:nvPicPr>
        <p:blipFill>
          <a:blip r:embed="rId1"/>
          <a:stretch/>
        </p:blipFill>
        <p:spPr>
          <a:xfrm>
            <a:off x="5577840" y="1691640"/>
            <a:ext cx="5668560" cy="403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9" descr="Admin panel.png"/>
          <p:cNvPicPr/>
          <p:nvPr/>
        </p:nvPicPr>
        <p:blipFill>
          <a:blip r:embed="rId2"/>
          <a:stretch/>
        </p:blipFill>
        <p:spPr>
          <a:xfrm>
            <a:off x="5577840" y="3977640"/>
            <a:ext cx="5668560" cy="238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10 • INNOVATIONS &amp; USPS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Key Architectural Innovations &amp; Competitive Edge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11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ounded Rectangle 6"/>
          <p:cNvSpPr/>
          <p:nvPr/>
        </p:nvSpPr>
        <p:spPr>
          <a:xfrm>
            <a:off x="731520" y="1554480"/>
            <a:ext cx="5165640" cy="22395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🔄 Linked Parent-Child Reports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Direct Association: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Finders report directly against an owner's lost listing, creating an immediate linked match dialogue.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Zero Duplication: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Prevents multiple disconnected reports for the exact same lost property.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7"/>
          <p:cNvSpPr/>
          <p:nvPr/>
        </p:nvSpPr>
        <p:spPr>
          <a:xfrm>
            <a:off x="6263640" y="1554480"/>
            <a:ext cx="5165640" cy="22395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🤝 Dual-Confirmation Return Handshake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Mutual Verification: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Both Owner AND Finder must tap 'Confirm Return' in-app during physical handover.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Eliminates False Claims: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Guarantees no party can falsely claim an item was returned or stolen.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8"/>
          <p:cNvSpPr/>
          <p:nvPr/>
        </p:nvSpPr>
        <p:spPr>
          <a:xfrm>
            <a:off x="731520" y="4069080"/>
            <a:ext cx="5165640" cy="22395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🏆 Gamified Karma Reputation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Immutable Ledger: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Earn +50 Karma Points for every verified return, building a transparent public score.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Tiered Badges: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Unlock Good Samaritan, Top Finder, and Trusted Finder status badges.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9"/>
          <p:cNvSpPr/>
          <p:nvPr/>
        </p:nvSpPr>
        <p:spPr>
          <a:xfrm>
            <a:off x="6263640" y="4069080"/>
            <a:ext cx="5165640" cy="22395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🔒 Zero-Exposure Private In-App Chat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Privacy Protection: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Coordinate safe handover meetups without sharing private phone numbers or personal emails.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Rich Controls: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Real-time message status, image sharing, edit message, and delete options.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11 • MONETIZATION MODEL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Ethical Revenue Model: Free Utility + Paid Featured Listings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12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6"/>
          <p:cNvSpPr/>
          <p:nvPr/>
        </p:nvSpPr>
        <p:spPr>
          <a:xfrm>
            <a:off x="731520" y="1554480"/>
            <a:ext cx="51656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🆓 100% Free Core Functionality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Free Lost &amp; Found Posting: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Anyone can report missing or discovered goods at zero cost.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Free In-App Chat: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Unlimited 1-on-1 private messaging for all active items.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Free Search &amp; Maps: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Full access to category search, status filters, and GPS location.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Free Verification &amp; Handshake: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Dual-confirmation return flow is always completely free.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7"/>
          <p:cNvSpPr/>
          <p:nvPr/>
        </p:nvSpPr>
        <p:spPr>
          <a:xfrm>
            <a:off x="6263640" y="1554480"/>
            <a:ext cx="51656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A5B4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🚀 Optional Paid Featured Listings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Top Feed Placement: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Pinned to the very top of home feed and search queries for maximum visibility.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Urgent Recovery Boost: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Ideal for critical personal items (passports, laptops, wallets, keys).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Visual 'FEATURED' Badge: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Highlighted purple badge instantly catches community finder attention.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eSewa Wallet Integration: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Instant, secure digital payment checkout with server-side token verification.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12 • TESTING &amp; QA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Comprehensive Testing Strategy &amp; Verification Results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13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ounded Rectangle 6"/>
          <p:cNvSpPr/>
          <p:nvPr/>
        </p:nvSpPr>
        <p:spPr>
          <a:xfrm>
            <a:off x="731520" y="1554480"/>
            <a:ext cx="33368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🧪 Automated Test Suite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100% Pass Rate: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45 Automated Unit &amp; Integration tests executed successfully via Django test runner.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Auth &amp; Security Tests: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JWT token lifecycle, password hashing, and role permission enforcement.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Workflow Tests: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Item creation, claim submission, secret answer checks, and dual confirmation.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7"/>
          <p:cNvSpPr/>
          <p:nvPr/>
        </p:nvSpPr>
        <p:spPr>
          <a:xfrm>
            <a:off x="4416480" y="1554480"/>
            <a:ext cx="33368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A5B4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⚡ Performance &amp; Scale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&lt; 180ms Latency: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Average API server response time under 180 ms for all standard REST endpoints.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200+ Concurrency: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Stress-tested with up to 200 concurrent active users with zero connection drops.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Zero DB Deadlocks: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ACID transactions maintained zero locking contention during simultaneous claims.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8"/>
          <p:cNvSpPr/>
          <p:nvPr/>
        </p:nvSpPr>
        <p:spPr>
          <a:xfrm>
            <a:off x="8101440" y="1554480"/>
            <a:ext cx="33368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📱 Device Compatibility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Physical Devices: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Smooth touch gestures, camera capture, and push alerts across Android 7.0 to 15.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Emulator &amp; PC Mode: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Full mouse hover, 3-dots quick actions, and right-click context menu on BlueStacks 5.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25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2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Offline Cache: </a:t>
            </a:r>
            <a:r>
              <a:rPr lang="en-US" sz="12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0ms immediate feed rendering from L1 memory &amp; L2 disk cache on weak networks.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ounded Rectangle 2"/>
          <p:cNvSpPr/>
          <p:nvPr/>
        </p:nvSpPr>
        <p:spPr>
          <a:xfrm>
            <a:off x="731520" y="411480"/>
            <a:ext cx="3108240" cy="319320"/>
          </a:xfrm>
          <a:prstGeom prst="roundRect">
            <a:avLst>
              <a:gd name="adj" fmla="val 16667"/>
            </a:avLst>
          </a:prstGeom>
          <a:solidFill>
            <a:srgbClr val="2D2550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TOPIC 13 • CONCLUSION &amp; ROADMAP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731520" y="74988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Project Summary &amp; Future Innovation Roadmap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8229600" y="4114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FINDORA  •  BCA 8TH SEMESTER DEFENSE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14 / 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731520" y="1325880"/>
            <a:ext cx="10728000" cy="118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ounded Rectangle 6"/>
          <p:cNvSpPr/>
          <p:nvPr/>
        </p:nvSpPr>
        <p:spPr>
          <a:xfrm>
            <a:off x="731520" y="1554480"/>
            <a:ext cx="51656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4ADE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🎯 Key Project Achievements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Full-Stack System Delivered: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Fully functional native Android app, Django REST API, and PostgreSQL database.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Structured Recovery Workflow: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Replaced chaotic social media posts with categorized, geo-tagged, and searchable listings.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Fraud-Proof Security: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Engineered secret proof questions and dual-confirmation return handshakes.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Community Incentives: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Implemented gamified Karma Points (+50 pts), Tiered Badges, and 5-Star Ratings.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7"/>
          <p:cNvSpPr/>
          <p:nvPr/>
        </p:nvSpPr>
        <p:spPr>
          <a:xfrm>
            <a:off x="6263640" y="1554480"/>
            <a:ext cx="5165640" cy="475416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A5B4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🔮 Future Innovation Roadmap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AI Visual Image Matching: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Automated image similarity matching using deep learning visual embeddings.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Interactive Geofencing Alerts: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Radius-based background push notifications when lost items are reported nearby.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Dynamic QR Item Tags: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Printable QR stickers for laptops/wallets enabling instant scan-to-report for finders.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534AB7"/>
                </a:solidFill>
                <a:effectLst/>
                <a:uFillTx/>
                <a:latin typeface="Calibri"/>
              </a:rPr>
              <a:t>• </a:t>
            </a: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Multilingual Localization: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Complete Nepali language support to broaden community adoption across Nepal.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ounded Rectangle 2"/>
          <p:cNvSpPr/>
          <p:nvPr/>
        </p:nvSpPr>
        <p:spPr>
          <a:xfrm>
            <a:off x="1645920" y="1097280"/>
            <a:ext cx="8899200" cy="4662720"/>
          </a:xfrm>
          <a:prstGeom prst="roundRect">
            <a:avLst>
              <a:gd name="adj" fmla="val 16667"/>
            </a:avLst>
          </a:prstGeom>
          <a:solidFill>
            <a:srgbClr val="182036"/>
          </a:solidFill>
          <a:ln w="1524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0" tIns="457200" rIns="4572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5B4FC"/>
                </a:solidFill>
                <a:effectLst/>
                <a:uFillTx/>
                <a:latin typeface="Calibri"/>
              </a:rPr>
              <a:t>FINDORA  •  COMMUNITY-DRIVEN LOST AND FOUND PLATFORM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001"/>
              </a:spcBef>
            </a:pPr>
            <a:r>
              <a:rPr lang="en-US" sz="4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THANK YOU!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799"/>
              </a:spcBef>
              <a:spcAft>
                <a:spcPts val="2401"/>
              </a:spcAft>
            </a:pPr>
            <a:r>
              <a:rPr lang="en-US" sz="2000" b="1" u="none" strike="noStrike">
                <a:solidFill>
                  <a:srgbClr val="4ADE80"/>
                </a:solidFill>
                <a:effectLst/>
                <a:uFillTx/>
                <a:latin typeface="Calibri"/>
              </a:rPr>
              <a:t>Questions, Suggestions &amp; Feedback are Welcome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200"/>
            </a:b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Oxford College of Engineering and Management, Gaidakot, Nawalpur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LibreOffice/26.2.1.2$Windows_X86_64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2026-09-10T10:33:12Z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