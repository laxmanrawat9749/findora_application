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91E3B6F-08F3-4AAC-A5C5-5D955090F07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F087380-459F-43CF-9D60-C7EDC68DF6B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6B85238-9FCE-4001-ABCC-968A4AFB8FC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B02CF1A-F0FD-4D75-8C81-3E9CF1D00D7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000" b="1" u="none" strike="noStrike" cap="all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000" b="0" u="none" strike="noStrike">
              <a:solidFill>
                <a:schemeClr val="dk1">
                  <a:tint val="75000"/>
                </a:schemeClr>
              </a:solidFill>
              <a:effectLst/>
              <a:uFillTx/>
              <a:latin typeface="Calibri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06FEB46-FD56-4C85-AEAB-6074D941A4B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9A5057B-51D9-4786-998B-24F90DB14F2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4138EA8-3D64-4178-AA27-AC56CCC6713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8A7D03B-7980-45AF-A6E1-04C0FAD64E2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78179DD-05B9-4CE4-9BED-142F834EC20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4C07046-77BE-4B3A-A31A-684CC7D3CC3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457200">
              <a:spcBef>
                <a:spcPts val="28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algn="l" defTabSz="457200">
              <a:spcBef>
                <a:spcPts val="28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lvl="1" algn="l" defTabSz="4572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914400" lvl="2" algn="l" defTabSz="4572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371600" lvl="3" algn="l" defTabSz="4572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828800" lvl="4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0"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743200"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016B51C-A4F7-449B-84BE-D1E5A24516C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9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9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7.png"/><Relationship Id="rId3" Type="http://schemas.openxmlformats.org/officeDocument/2006/relationships/slideLayout" Target="../slideLayouts/slideLayout9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9.png"/><Relationship Id="rId3" Type="http://schemas.openxmlformats.org/officeDocument/2006/relationships/slideLayout" Target="../slideLayouts/slideLayout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11.png"/><Relationship Id="rId3" Type="http://schemas.openxmlformats.org/officeDocument/2006/relationships/slideLayout" Target="../slideLayouts/slideLayout9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Rectangle 1"/>
          <p:cNvSpPr/>
          <p:nvPr/>
        </p:nvSpPr>
        <p:spPr>
          <a:xfrm>
            <a:off x="252000" y="0"/>
            <a:ext cx="12191400" cy="6857640"/>
          </a:xfrm>
          <a:prstGeom prst="rect">
            <a:avLst/>
          </a:prstGeom>
          <a:solidFill>
            <a:srgbClr val="0B0F1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2" name="Rounded Rectangle 2"/>
          <p:cNvSpPr/>
          <p:nvPr/>
        </p:nvSpPr>
        <p:spPr>
          <a:xfrm>
            <a:off x="731520" y="731520"/>
            <a:ext cx="6949080" cy="5394600"/>
          </a:xfrm>
          <a:prstGeom prst="roundRect">
            <a:avLst>
              <a:gd name="adj" fmla="val 16667"/>
            </a:avLst>
          </a:prstGeom>
          <a:solidFill>
            <a:srgbClr val="182036"/>
          </a:solidFill>
          <a:ln w="15240">
            <a:solidFill>
              <a:srgbClr val="534AB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5760" tIns="365760" rIns="36576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A5B4FC"/>
                </a:solidFill>
                <a:effectLst/>
                <a:uFillTx/>
                <a:latin typeface="Calibri"/>
              </a:rPr>
              <a:t>POKHARA UNIVERSITY  •  BCA 8TH SEMESTER PROJECT DEFENSE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799"/>
              </a:spcBef>
            </a:pPr>
            <a:r>
              <a:rPr lang="en-US" sz="440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FINDORA</a:t>
            </a:r>
            <a:endParaRPr lang="en-US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599"/>
              </a:spcAft>
            </a:pPr>
            <a:r>
              <a:rPr lang="en-US" sz="1800" b="1" u="none" strike="noStrike">
                <a:solidFill>
                  <a:srgbClr val="4ADE80"/>
                </a:solidFill>
                <a:effectLst/>
                <a:uFillTx/>
                <a:latin typeface="Calibri"/>
              </a:rPr>
              <a:t>Community-Driven Lost and Found Platform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01"/>
              </a:spcAft>
            </a:pPr>
            <a:r>
              <a:rPr lang="en-US" sz="12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A secure, verified digital ecosystem uniting item owners, honest finders, and platform administrators with secret question claim verification, real-time in-app chat, dual-confirmation return handshakes, and karma reputation incentives.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50" b="0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College: Oxford College of Engineering and Management, Gaidakot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50" b="1" u="none" strike="noStrike">
                <a:solidFill>
                  <a:srgbClr val="A5B4FC"/>
                </a:solidFill>
                <a:effectLst/>
                <a:uFillTx/>
                <a:latin typeface="Calibri"/>
              </a:rPr>
              <a:t>Project Supervisors: Mr. Anil Thapaliya  |  Mr. Shiva Pathak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Submitted By: Laxman Rawat(22530204) , Bibek Kafle(225302 )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" name="Rounded Rectangle 3"/>
          <p:cNvSpPr/>
          <p:nvPr/>
        </p:nvSpPr>
        <p:spPr>
          <a:xfrm>
            <a:off x="8001000" y="685800"/>
            <a:ext cx="3428640" cy="5440320"/>
          </a:xfrm>
          <a:prstGeom prst="roundRect">
            <a:avLst>
              <a:gd name="adj" fmla="val 16667"/>
            </a:avLst>
          </a:prstGeom>
          <a:solidFill>
            <a:srgbClr val="25304D"/>
          </a:solidFill>
          <a:ln w="15240">
            <a:solidFill>
              <a:srgbClr val="3341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64" name="Picture 7" descr="git_image-2.png"/>
          <p:cNvPicPr/>
          <p:nvPr/>
        </p:nvPicPr>
        <p:blipFill>
          <a:blip r:embed="rId1"/>
          <a:stretch/>
        </p:blipFill>
        <p:spPr>
          <a:xfrm>
            <a:off x="8458200" y="1371600"/>
            <a:ext cx="2650680" cy="40870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0B0F1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6" name="Rounded Rectangle 2"/>
          <p:cNvSpPr/>
          <p:nvPr/>
        </p:nvSpPr>
        <p:spPr>
          <a:xfrm>
            <a:off x="731520" y="411480"/>
            <a:ext cx="3108600" cy="319680"/>
          </a:xfrm>
          <a:prstGeom prst="roundRect">
            <a:avLst>
              <a:gd name="adj" fmla="val 16667"/>
            </a:avLst>
          </a:prstGeom>
          <a:solidFill>
            <a:srgbClr val="2D2550"/>
          </a:solidFill>
          <a:ln w="12700">
            <a:solidFill>
              <a:srgbClr val="534AB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A5B4FC"/>
                </a:solidFill>
                <a:effectLst/>
                <a:uFillTx/>
                <a:latin typeface="Calibri"/>
              </a:rPr>
              <a:t>TOPIC 01 • PROBLEM STATEMENT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" name="TextBox 3"/>
          <p:cNvSpPr/>
          <p:nvPr/>
        </p:nvSpPr>
        <p:spPr>
          <a:xfrm>
            <a:off x="731520" y="749880"/>
            <a:ext cx="86864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The Crisis of Lost Valuables &amp; Broken Traditional Channels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4"/>
          <p:cNvSpPr/>
          <p:nvPr/>
        </p:nvSpPr>
        <p:spPr>
          <a:xfrm>
            <a:off x="8229600" y="411480"/>
            <a:ext cx="3200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FINDORA  •  BCA 8TH SEMESTER DEFENSE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A5B4FC"/>
                </a:solidFill>
                <a:effectLst/>
                <a:uFillTx/>
                <a:latin typeface="Calibri"/>
              </a:rPr>
              <a:t>02 / 15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Rectangle 5"/>
          <p:cNvSpPr/>
          <p:nvPr/>
        </p:nvSpPr>
        <p:spPr>
          <a:xfrm>
            <a:off x="731520" y="1325880"/>
            <a:ext cx="10728360" cy="12240"/>
          </a:xfrm>
          <a:prstGeom prst="rect">
            <a:avLst/>
          </a:prstGeom>
          <a:solidFill>
            <a:srgbClr val="33415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2400" rIns="90000" bIns="-324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0" name="Rounded Rectangle 6"/>
          <p:cNvSpPr/>
          <p:nvPr/>
        </p:nvSpPr>
        <p:spPr>
          <a:xfrm>
            <a:off x="731520" y="1554480"/>
            <a:ext cx="3337200" cy="4754520"/>
          </a:xfrm>
          <a:prstGeom prst="roundRect">
            <a:avLst>
              <a:gd name="adj" fmla="val 16667"/>
            </a:avLst>
          </a:prstGeom>
          <a:solidFill>
            <a:srgbClr val="182036"/>
          </a:solidFill>
          <a:ln w="15240">
            <a:solidFill>
              <a:srgbClr val="F87171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8600" tIns="228600" rIns="228600" bIns="45000" anchor="ctr">
            <a:noAutofit/>
          </a:bodyPr>
          <a:p>
            <a:pPr algn="ctr" defTabSz="457200">
              <a:lnSpc>
                <a:spcPct val="100000"/>
              </a:lnSpc>
              <a:spcAft>
                <a:spcPts val="1199"/>
              </a:spcAft>
            </a:pPr>
            <a:r>
              <a:rPr lang="en-US" sz="1600" b="1" u="none" strike="noStrike">
                <a:solidFill>
                  <a:srgbClr val="F87171"/>
                </a:solidFill>
                <a:effectLst/>
                <a:uFillTx/>
                <a:latin typeface="Calibri"/>
              </a:rPr>
              <a:t>❌ Fragmented &amp; Chaotic Channels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250" b="1" u="none" strike="noStrike">
                <a:solidFill>
                  <a:srgbClr val="534AB7"/>
                </a:solidFill>
                <a:effectLst/>
                <a:uFillTx/>
                <a:latin typeface="Calibri"/>
              </a:rPr>
              <a:t>• </a:t>
            </a:r>
            <a:r>
              <a:rPr lang="en-US" sz="125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Buried Social Posts: </a:t>
            </a:r>
            <a:r>
              <a:rPr lang="en-US" sz="125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Posts in Facebook or Viber groups are quickly buried by new feeds within minutes.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250" b="1" u="none" strike="noStrike">
                <a:solidFill>
                  <a:srgbClr val="534AB7"/>
                </a:solidFill>
                <a:effectLst/>
                <a:uFillTx/>
                <a:latin typeface="Calibri"/>
              </a:rPr>
              <a:t>• </a:t>
            </a:r>
            <a:r>
              <a:rPr lang="en-US" sz="125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Physical Desks Siloed: </a:t>
            </a:r>
            <a:r>
              <a:rPr lang="en-US" sz="125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Lost items at university departments or reception desks remain isolated with no digital registry.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250" b="1" u="none" strike="noStrike">
                <a:solidFill>
                  <a:srgbClr val="534AB7"/>
                </a:solidFill>
                <a:effectLst/>
                <a:uFillTx/>
                <a:latin typeface="Calibri"/>
              </a:rPr>
              <a:t>• </a:t>
            </a:r>
            <a:r>
              <a:rPr lang="en-US" sz="125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No Search Mechanism: </a:t>
            </a:r>
            <a:r>
              <a:rPr lang="en-US" sz="125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Victims cannot filter by category, date, or location, making recovery heavily dependent on luck.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" name="Rounded Rectangle 7"/>
          <p:cNvSpPr/>
          <p:nvPr/>
        </p:nvSpPr>
        <p:spPr>
          <a:xfrm>
            <a:off x="4416480" y="1554480"/>
            <a:ext cx="3337200" cy="4754520"/>
          </a:xfrm>
          <a:prstGeom prst="roundRect">
            <a:avLst>
              <a:gd name="adj" fmla="val 16667"/>
            </a:avLst>
          </a:prstGeom>
          <a:solidFill>
            <a:srgbClr val="182036"/>
          </a:solidFill>
          <a:ln w="15240">
            <a:solidFill>
              <a:srgbClr val="FBBF2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8600" tIns="228600" rIns="228600" bIns="45000" anchor="ctr">
            <a:noAutofit/>
          </a:bodyPr>
          <a:p>
            <a:pPr algn="ctr" defTabSz="457200">
              <a:lnSpc>
                <a:spcPct val="100000"/>
              </a:lnSpc>
              <a:spcAft>
                <a:spcPts val="1199"/>
              </a:spcAft>
            </a:pPr>
            <a:r>
              <a:rPr lang="en-US" sz="1600" b="1" u="none" strike="noStrike">
                <a:solidFill>
                  <a:srgbClr val="FBBF24"/>
                </a:solidFill>
                <a:effectLst/>
                <a:uFillTx/>
                <a:latin typeface="Calibri"/>
              </a:rPr>
              <a:t>⚠️ False Claims &amp; Identity Fraud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250" b="1" u="none" strike="noStrike">
                <a:solidFill>
                  <a:srgbClr val="534AB7"/>
                </a:solidFill>
                <a:effectLst/>
                <a:uFillTx/>
                <a:latin typeface="Calibri"/>
              </a:rPr>
              <a:t>• </a:t>
            </a:r>
            <a:r>
              <a:rPr lang="en-US" sz="125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Zero Verification: </a:t>
            </a:r>
            <a:r>
              <a:rPr lang="en-US" sz="125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Traditional methods allow anyone to falsely claim high-value items without ownership proof.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250" b="1" u="none" strike="noStrike">
                <a:solidFill>
                  <a:srgbClr val="534AB7"/>
                </a:solidFill>
                <a:effectLst/>
                <a:uFillTx/>
                <a:latin typeface="Calibri"/>
              </a:rPr>
              <a:t>• </a:t>
            </a:r>
            <a:r>
              <a:rPr lang="en-US" sz="125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Privacy Exposure: </a:t>
            </a:r>
            <a:r>
              <a:rPr lang="en-US" sz="125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Owners and finders are forced to post personal phone numbers publicly, attracting spam and scams.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250" b="1" u="none" strike="noStrike">
                <a:solidFill>
                  <a:srgbClr val="534AB7"/>
                </a:solidFill>
                <a:effectLst/>
                <a:uFillTx/>
                <a:latin typeface="Calibri"/>
              </a:rPr>
              <a:t>• </a:t>
            </a:r>
            <a:r>
              <a:rPr lang="en-US" sz="125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Unverifiable Handover: </a:t>
            </a:r>
            <a:r>
              <a:rPr lang="en-US" sz="125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No records exist to prove whether an item was successfully returned or stolen.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" name="Rounded Rectangle 8"/>
          <p:cNvSpPr/>
          <p:nvPr/>
        </p:nvSpPr>
        <p:spPr>
          <a:xfrm>
            <a:off x="8101440" y="1554480"/>
            <a:ext cx="3337200" cy="4754520"/>
          </a:xfrm>
          <a:prstGeom prst="roundRect">
            <a:avLst>
              <a:gd name="adj" fmla="val 16667"/>
            </a:avLst>
          </a:prstGeom>
          <a:solidFill>
            <a:srgbClr val="182036"/>
          </a:solidFill>
          <a:ln w="15240">
            <a:solidFill>
              <a:srgbClr val="534AB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8600" tIns="228600" rIns="228600" bIns="45000" anchor="ctr">
            <a:noAutofit/>
          </a:bodyPr>
          <a:p>
            <a:pPr algn="ctr" defTabSz="457200">
              <a:lnSpc>
                <a:spcPct val="100000"/>
              </a:lnSpc>
              <a:spcAft>
                <a:spcPts val="1199"/>
              </a:spcAft>
            </a:pPr>
            <a:r>
              <a:rPr lang="en-US" sz="1600" b="1" u="none" strike="noStrike">
                <a:solidFill>
                  <a:srgbClr val="A5B4FC"/>
                </a:solidFill>
                <a:effectLst/>
                <a:uFillTx/>
                <a:latin typeface="Calibri"/>
              </a:rPr>
              <a:t>📉 Lack of Finder Motivation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250" b="1" u="none" strike="noStrike">
                <a:solidFill>
                  <a:srgbClr val="534AB7"/>
                </a:solidFill>
                <a:effectLst/>
                <a:uFillTx/>
                <a:latin typeface="Calibri"/>
              </a:rPr>
              <a:t>• </a:t>
            </a:r>
            <a:r>
              <a:rPr lang="en-US" sz="125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High Effort, Zero Reward: </a:t>
            </a:r>
            <a:r>
              <a:rPr lang="en-US" sz="125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Finders spend personal time searching for owners with no social recognition or reward.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250" b="1" u="none" strike="noStrike">
                <a:solidFill>
                  <a:srgbClr val="534AB7"/>
                </a:solidFill>
                <a:effectLst/>
                <a:uFillTx/>
                <a:latin typeface="Calibri"/>
              </a:rPr>
              <a:t>• </a:t>
            </a:r>
            <a:r>
              <a:rPr lang="en-US" sz="125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Social Friction: </a:t>
            </a:r>
            <a:r>
              <a:rPr lang="en-US" sz="125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Awkward cold calls and meeting strangers without an in-app secure coordination channel.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250" b="1" u="none" strike="noStrike">
                <a:solidFill>
                  <a:srgbClr val="534AB7"/>
                </a:solidFill>
                <a:effectLst/>
                <a:uFillTx/>
                <a:latin typeface="Calibri"/>
              </a:rPr>
              <a:t>• </a:t>
            </a:r>
            <a:r>
              <a:rPr lang="en-US" sz="125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Passive Neglect: </a:t>
            </a:r>
            <a:r>
              <a:rPr lang="en-US" sz="125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Valuable items remain unreturned in drawers because finding the owner is too tedious.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0B0F1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4" name="Rounded Rectangle 2"/>
          <p:cNvSpPr/>
          <p:nvPr/>
        </p:nvSpPr>
        <p:spPr>
          <a:xfrm>
            <a:off x="731520" y="411480"/>
            <a:ext cx="3108600" cy="319680"/>
          </a:xfrm>
          <a:prstGeom prst="roundRect">
            <a:avLst>
              <a:gd name="adj" fmla="val 16667"/>
            </a:avLst>
          </a:prstGeom>
          <a:solidFill>
            <a:srgbClr val="2D2550"/>
          </a:solidFill>
          <a:ln w="12700">
            <a:solidFill>
              <a:srgbClr val="534AB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A5B4FC"/>
                </a:solidFill>
                <a:effectLst/>
                <a:uFillTx/>
                <a:latin typeface="Calibri"/>
              </a:rPr>
              <a:t>TOPIC 02 • PROPOSED SOLUTION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3"/>
          <p:cNvSpPr/>
          <p:nvPr/>
        </p:nvSpPr>
        <p:spPr>
          <a:xfrm>
            <a:off x="731520" y="749880"/>
            <a:ext cx="86864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Findora: The Smart, Verified Lost &amp; Found Platform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Box 4"/>
          <p:cNvSpPr/>
          <p:nvPr/>
        </p:nvSpPr>
        <p:spPr>
          <a:xfrm>
            <a:off x="8229600" y="411480"/>
            <a:ext cx="3200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FINDORA  •  BCA 8TH SEMESTER DEFENSE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A5B4FC"/>
                </a:solidFill>
                <a:effectLst/>
                <a:uFillTx/>
                <a:latin typeface="Calibri"/>
              </a:rPr>
              <a:t>03 / 15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Rectangle 5"/>
          <p:cNvSpPr/>
          <p:nvPr/>
        </p:nvSpPr>
        <p:spPr>
          <a:xfrm>
            <a:off x="731520" y="1325880"/>
            <a:ext cx="10728360" cy="12240"/>
          </a:xfrm>
          <a:prstGeom prst="rect">
            <a:avLst/>
          </a:prstGeom>
          <a:solidFill>
            <a:srgbClr val="33415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2400" rIns="90000" bIns="-324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8" name="Rounded Rectangle 6"/>
          <p:cNvSpPr/>
          <p:nvPr/>
        </p:nvSpPr>
        <p:spPr>
          <a:xfrm>
            <a:off x="731520" y="1554480"/>
            <a:ext cx="6857640" cy="4754520"/>
          </a:xfrm>
          <a:prstGeom prst="roundRect">
            <a:avLst>
              <a:gd name="adj" fmla="val 16667"/>
            </a:avLst>
          </a:prstGeom>
          <a:solidFill>
            <a:srgbClr val="182036"/>
          </a:solidFill>
          <a:ln w="15240">
            <a:solidFill>
              <a:srgbClr val="3341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74320" tIns="274320" rIns="274320" bIns="45000" anchor="ctr">
            <a:noAutofit/>
          </a:bodyPr>
          <a:p>
            <a:pPr algn="ctr" defTabSz="457200">
              <a:lnSpc>
                <a:spcPct val="100000"/>
              </a:lnSpc>
              <a:spcAft>
                <a:spcPts val="1400"/>
              </a:spcAft>
            </a:pPr>
            <a:r>
              <a:rPr lang="en-US" sz="1700" b="1" u="none" strike="noStrike">
                <a:solidFill>
                  <a:srgbClr val="4ADE80"/>
                </a:solidFill>
                <a:effectLst/>
                <a:uFillTx/>
                <a:latin typeface="Calibri"/>
              </a:rPr>
              <a:t>4 Core Solution Pillars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300" b="1" u="none" strike="noStrike">
                <a:solidFill>
                  <a:srgbClr val="534AB7"/>
                </a:solidFill>
                <a:effectLst/>
                <a:uFillTx/>
                <a:latin typeface="Calibri"/>
              </a:rPr>
              <a:t>• </a:t>
            </a:r>
            <a:r>
              <a:rPr lang="en-US" sz="130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1. Centralized Digital Repository: </a:t>
            </a:r>
            <a:r>
              <a:rPr lang="en-US" sz="13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Categorized feed with instant keyword search, category chips, status tags (LOST/FOUND), and GPS map pinning.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300" b="1" u="none" strike="noStrike">
                <a:solidFill>
                  <a:srgbClr val="534AB7"/>
                </a:solidFill>
                <a:effectLst/>
                <a:uFillTx/>
                <a:latin typeface="Calibri"/>
              </a:rPr>
              <a:t>• </a:t>
            </a:r>
            <a:r>
              <a:rPr lang="en-US" sz="130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2. Secret Question Proof Verification: </a:t>
            </a:r>
            <a:r>
              <a:rPr lang="en-US" sz="13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Finders configure a secret verification question (e.g. lockscreen wallpaper, serial digit) that only the authentic owner can answer.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300" b="1" u="none" strike="noStrike">
                <a:solidFill>
                  <a:srgbClr val="534AB7"/>
                </a:solidFill>
                <a:effectLst/>
                <a:uFillTx/>
                <a:latin typeface="Calibri"/>
              </a:rPr>
              <a:t>• </a:t>
            </a:r>
            <a:r>
              <a:rPr lang="en-US" sz="130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3. Dual-Confirmation Handshake: </a:t>
            </a:r>
            <a:r>
              <a:rPr lang="en-US" sz="13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Eliminates false recovery claims. Both Owner AND Finder must tap 'Confirm Return' in-app during physical handover.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300" b="1" u="none" strike="noStrike">
                <a:solidFill>
                  <a:srgbClr val="534AB7"/>
                </a:solidFill>
                <a:effectLst/>
                <a:uFillTx/>
                <a:latin typeface="Calibri"/>
              </a:rPr>
              <a:t>• </a:t>
            </a:r>
            <a:r>
              <a:rPr lang="en-US" sz="130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4. Gamified Reputation System: </a:t>
            </a:r>
            <a:r>
              <a:rPr lang="en-US" sz="13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Rewards honest finders with +50 Karma Points, 5-Star Ratings, and Tiered Badges (Good Samaritan, Top Finder, Trusted Finder).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" name="Rounded Rectangle 7"/>
          <p:cNvSpPr/>
          <p:nvPr/>
        </p:nvSpPr>
        <p:spPr>
          <a:xfrm>
            <a:off x="7863840" y="1554480"/>
            <a:ext cx="3565800" cy="4754520"/>
          </a:xfrm>
          <a:prstGeom prst="roundRect">
            <a:avLst>
              <a:gd name="adj" fmla="val 16667"/>
            </a:avLst>
          </a:prstGeom>
          <a:solidFill>
            <a:srgbClr val="25304D"/>
          </a:solidFill>
          <a:ln w="15240">
            <a:solidFill>
              <a:srgbClr val="3341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80" name="Picture 8" descr="finder dashboards 5.png"/>
          <p:cNvPicPr/>
          <p:nvPr/>
        </p:nvPicPr>
        <p:blipFill>
          <a:blip r:embed="rId1"/>
          <a:stretch/>
        </p:blipFill>
        <p:spPr>
          <a:xfrm>
            <a:off x="8321040" y="1737360"/>
            <a:ext cx="2559960" cy="41058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0B0F1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2" name="Rounded Rectangle 2"/>
          <p:cNvSpPr/>
          <p:nvPr/>
        </p:nvSpPr>
        <p:spPr>
          <a:xfrm>
            <a:off x="731520" y="411480"/>
            <a:ext cx="3108600" cy="319680"/>
          </a:xfrm>
          <a:prstGeom prst="roundRect">
            <a:avLst>
              <a:gd name="adj" fmla="val 16667"/>
            </a:avLst>
          </a:prstGeom>
          <a:solidFill>
            <a:srgbClr val="2D2550"/>
          </a:solidFill>
          <a:ln w="12700">
            <a:solidFill>
              <a:srgbClr val="534AB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A5B4FC"/>
                </a:solidFill>
                <a:effectLst/>
                <a:uFillTx/>
                <a:latin typeface="Calibri"/>
              </a:rPr>
              <a:t>TOPIC 03 • SYSTEM ARCHITECTURE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" name="TextBox 3"/>
          <p:cNvSpPr/>
          <p:nvPr/>
        </p:nvSpPr>
        <p:spPr>
          <a:xfrm>
            <a:off x="731520" y="749880"/>
            <a:ext cx="86864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Multi-Tiered Architectural Blueprint &amp; Data Flow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Box 4"/>
          <p:cNvSpPr/>
          <p:nvPr/>
        </p:nvSpPr>
        <p:spPr>
          <a:xfrm>
            <a:off x="8229600" y="411480"/>
            <a:ext cx="3200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FINDORA  •  BCA 8TH SEMESTER DEFENSE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A5B4FC"/>
                </a:solidFill>
                <a:effectLst/>
                <a:uFillTx/>
                <a:latin typeface="Calibri"/>
              </a:rPr>
              <a:t>04 / 15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Rectangle 5"/>
          <p:cNvSpPr/>
          <p:nvPr/>
        </p:nvSpPr>
        <p:spPr>
          <a:xfrm>
            <a:off x="731520" y="1325880"/>
            <a:ext cx="10728360" cy="12240"/>
          </a:xfrm>
          <a:prstGeom prst="rect">
            <a:avLst/>
          </a:prstGeom>
          <a:solidFill>
            <a:srgbClr val="33415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2400" rIns="90000" bIns="-324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6" name="Rounded Rectangle 6"/>
          <p:cNvSpPr/>
          <p:nvPr/>
        </p:nvSpPr>
        <p:spPr>
          <a:xfrm>
            <a:off x="731520" y="1554480"/>
            <a:ext cx="4754520" cy="4754520"/>
          </a:xfrm>
          <a:prstGeom prst="roundRect">
            <a:avLst>
              <a:gd name="adj" fmla="val 16667"/>
            </a:avLst>
          </a:prstGeom>
          <a:solidFill>
            <a:srgbClr val="182036"/>
          </a:solidFill>
          <a:ln w="15240">
            <a:solidFill>
              <a:srgbClr val="3341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74320" tIns="274320" rIns="274320" bIns="45000" anchor="ctr">
            <a:noAutofit/>
          </a:bodyPr>
          <a:p>
            <a:pPr algn="ctr" defTabSz="457200">
              <a:lnSpc>
                <a:spcPct val="100000"/>
              </a:lnSpc>
              <a:spcAft>
                <a:spcPts val="1199"/>
              </a:spcAft>
            </a:pPr>
            <a:r>
              <a:rPr lang="en-US" sz="1700" b="1" u="none" strike="noStrike">
                <a:solidFill>
                  <a:srgbClr val="A5B4FC"/>
                </a:solidFill>
                <a:effectLst/>
                <a:uFillTx/>
                <a:latin typeface="Calibri"/>
              </a:rPr>
              <a:t>Architectural Layers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250" b="1" u="none" strike="noStrike">
                <a:solidFill>
                  <a:srgbClr val="534AB7"/>
                </a:solidFill>
                <a:effectLst/>
                <a:uFillTx/>
                <a:latin typeface="Calibri"/>
              </a:rPr>
              <a:t>• </a:t>
            </a:r>
            <a:r>
              <a:rPr lang="en-US" sz="125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Presentation Tier: </a:t>
            </a:r>
            <a:r>
              <a:rPr lang="en-US" sz="125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Native Android Java client with Material 3 UI, ViewBinding, and 0ms in-memory cache.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250" b="1" u="none" strike="noStrike">
                <a:solidFill>
                  <a:srgbClr val="534AB7"/>
                </a:solidFill>
                <a:effectLst/>
                <a:uFillTx/>
                <a:latin typeface="Calibri"/>
              </a:rPr>
              <a:t>• </a:t>
            </a:r>
            <a:r>
              <a:rPr lang="en-US" sz="125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Application Tier: </a:t>
            </a:r>
            <a:r>
              <a:rPr lang="en-US" sz="125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Django REST Framework backend running on Gunicorn WSGI server handling stateless JSON APIs.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250" b="1" u="none" strike="noStrike">
                <a:solidFill>
                  <a:srgbClr val="534AB7"/>
                </a:solidFill>
                <a:effectLst/>
                <a:uFillTx/>
                <a:latin typeface="Calibri"/>
              </a:rPr>
              <a:t>• </a:t>
            </a:r>
            <a:r>
              <a:rPr lang="en-US" sz="125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Data Tier: </a:t>
            </a:r>
            <a:r>
              <a:rPr lang="en-US" sz="125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PostgreSQL relational database normalized to 3NF ensuring ACID-compliant transactional integrity.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250" b="1" u="none" strike="noStrike">
                <a:solidFill>
                  <a:srgbClr val="534AB7"/>
                </a:solidFill>
                <a:effectLst/>
                <a:uFillTx/>
                <a:latin typeface="Calibri"/>
              </a:rPr>
              <a:t>• </a:t>
            </a:r>
            <a:r>
              <a:rPr lang="en-US" sz="125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Cloud Storage &amp; Media: </a:t>
            </a:r>
            <a:r>
              <a:rPr lang="en-US" sz="125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Backblaze B2 Object Storage (S3-compatible) storing encrypted high-resolution photos.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250" b="1" u="none" strike="noStrike">
                <a:solidFill>
                  <a:srgbClr val="534AB7"/>
                </a:solidFill>
                <a:effectLst/>
                <a:uFillTx/>
                <a:latin typeface="Calibri"/>
              </a:rPr>
              <a:t>• </a:t>
            </a:r>
            <a:r>
              <a:rPr lang="en-US" sz="125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Authentication &amp; OTP: </a:t>
            </a:r>
            <a:r>
              <a:rPr lang="en-US" sz="125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HMAC-SHA256 JWT bearer tokens &amp; Brevo transactional email OTP gateway.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" name="Rounded Rectangle 7"/>
          <p:cNvSpPr/>
          <p:nvPr/>
        </p:nvSpPr>
        <p:spPr>
          <a:xfrm>
            <a:off x="5760720" y="1554480"/>
            <a:ext cx="5668920" cy="4754520"/>
          </a:xfrm>
          <a:prstGeom prst="roundRect">
            <a:avLst>
              <a:gd name="adj" fmla="val 16667"/>
            </a:avLst>
          </a:prstGeom>
          <a:solidFill>
            <a:srgbClr val="25304D"/>
          </a:solidFill>
          <a:ln w="15240">
            <a:solidFill>
              <a:srgbClr val="3341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88" name="Picture 8" descr="img_9.png"/>
          <p:cNvPicPr/>
          <p:nvPr/>
        </p:nvPicPr>
        <p:blipFill>
          <a:blip r:embed="rId1"/>
          <a:stretch/>
        </p:blipFill>
        <p:spPr>
          <a:xfrm>
            <a:off x="5943600" y="1737360"/>
            <a:ext cx="5303160" cy="38887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0B0F1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0" name="Rounded Rectangle 2"/>
          <p:cNvSpPr/>
          <p:nvPr/>
        </p:nvSpPr>
        <p:spPr>
          <a:xfrm>
            <a:off x="731520" y="411480"/>
            <a:ext cx="3108600" cy="319680"/>
          </a:xfrm>
          <a:prstGeom prst="roundRect">
            <a:avLst>
              <a:gd name="adj" fmla="val 16667"/>
            </a:avLst>
          </a:prstGeom>
          <a:solidFill>
            <a:srgbClr val="2D2550"/>
          </a:solidFill>
          <a:ln w="12700">
            <a:solidFill>
              <a:srgbClr val="534AB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A5B4FC"/>
                </a:solidFill>
                <a:effectLst/>
                <a:uFillTx/>
                <a:latin typeface="Calibri"/>
              </a:rPr>
              <a:t>TOPIC 04 • CONCEPTUAL MODELS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" name="TextBox 3"/>
          <p:cNvSpPr/>
          <p:nvPr/>
        </p:nvSpPr>
        <p:spPr>
          <a:xfrm>
            <a:off x="731520" y="749880"/>
            <a:ext cx="86864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System Actors, Roles &amp; Use Case Flow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Box 4"/>
          <p:cNvSpPr/>
          <p:nvPr/>
        </p:nvSpPr>
        <p:spPr>
          <a:xfrm>
            <a:off x="8229600" y="411480"/>
            <a:ext cx="3200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FINDORA  •  BCA 8TH SEMESTER DEFENSE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A5B4FC"/>
                </a:solidFill>
                <a:effectLst/>
                <a:uFillTx/>
                <a:latin typeface="Calibri"/>
              </a:rPr>
              <a:t>05 / 15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Rectangle 5"/>
          <p:cNvSpPr/>
          <p:nvPr/>
        </p:nvSpPr>
        <p:spPr>
          <a:xfrm>
            <a:off x="731520" y="1325880"/>
            <a:ext cx="10728360" cy="12240"/>
          </a:xfrm>
          <a:prstGeom prst="rect">
            <a:avLst/>
          </a:prstGeom>
          <a:solidFill>
            <a:srgbClr val="33415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2400" rIns="90000" bIns="-324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4" name="Rounded Rectangle 6"/>
          <p:cNvSpPr/>
          <p:nvPr/>
        </p:nvSpPr>
        <p:spPr>
          <a:xfrm>
            <a:off x="731520" y="1554480"/>
            <a:ext cx="4754520" cy="4754520"/>
          </a:xfrm>
          <a:prstGeom prst="roundRect">
            <a:avLst>
              <a:gd name="adj" fmla="val 16667"/>
            </a:avLst>
          </a:prstGeom>
          <a:solidFill>
            <a:srgbClr val="182036"/>
          </a:solidFill>
          <a:ln w="15240">
            <a:solidFill>
              <a:srgbClr val="3341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74320" tIns="274320" rIns="274320" bIns="45000" anchor="ctr">
            <a:noAutofit/>
          </a:bodyPr>
          <a:p>
            <a:pPr algn="ctr" defTabSz="457200">
              <a:lnSpc>
                <a:spcPct val="100000"/>
              </a:lnSpc>
              <a:spcAft>
                <a:spcPts val="1199"/>
              </a:spcAft>
            </a:pPr>
            <a:r>
              <a:rPr lang="en-US" sz="1700" b="1" u="none" strike="noStrike">
                <a:solidFill>
                  <a:srgbClr val="4ADE80"/>
                </a:solidFill>
                <a:effectLst/>
                <a:uFillTx/>
                <a:latin typeface="Calibri"/>
              </a:rPr>
              <a:t>3 Primary User Roles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00"/>
              </a:spcAft>
            </a:pPr>
            <a:r>
              <a:rPr lang="en-US" sz="1250" b="1" u="none" strike="noStrike">
                <a:solidFill>
                  <a:srgbClr val="534AB7"/>
                </a:solidFill>
                <a:effectLst/>
                <a:uFillTx/>
                <a:latin typeface="Calibri"/>
              </a:rPr>
              <a:t>• </a:t>
            </a:r>
            <a:r>
              <a:rPr lang="en-US" sz="125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👤 Item Owner: </a:t>
            </a:r>
            <a:r>
              <a:rPr lang="en-US" sz="125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Posts lost item reports, searches feed, answers secret proof questions, confirms return, and rates finders.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00"/>
              </a:spcAft>
            </a:pPr>
            <a:r>
              <a:rPr lang="en-US" sz="1250" b="1" u="none" strike="noStrike">
                <a:solidFill>
                  <a:srgbClr val="534AB7"/>
                </a:solidFill>
                <a:effectLst/>
                <a:uFillTx/>
                <a:latin typeface="Calibri"/>
              </a:rPr>
              <a:t>• </a:t>
            </a:r>
            <a:r>
              <a:rPr lang="en-US" sz="125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🔍 Item Finder: </a:t>
            </a:r>
            <a:r>
              <a:rPr lang="en-US" sz="125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Posts discovered items with mandatory photo, sets secret ownership question, chats in-app, confirms handover, and earns Karma Points.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00"/>
              </a:spcAft>
            </a:pPr>
            <a:r>
              <a:rPr lang="en-US" sz="1250" b="1" u="none" strike="noStrike">
                <a:solidFill>
                  <a:srgbClr val="534AB7"/>
                </a:solidFill>
                <a:effectLst/>
                <a:uFillTx/>
                <a:latin typeface="Calibri"/>
              </a:rPr>
              <a:t>• </a:t>
            </a:r>
            <a:r>
              <a:rPr lang="en-US" sz="125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🛡️ Platform Administrator: </a:t>
            </a:r>
            <a:r>
              <a:rPr lang="en-US" sz="125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Moderates reported items, inspects evidence photos, resolves disputed claims, oversees user trust scores, and audits transactions.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" name="Rounded Rectangle 7"/>
          <p:cNvSpPr/>
          <p:nvPr/>
        </p:nvSpPr>
        <p:spPr>
          <a:xfrm>
            <a:off x="5760720" y="1554480"/>
            <a:ext cx="5668920" cy="4754520"/>
          </a:xfrm>
          <a:prstGeom prst="roundRect">
            <a:avLst>
              <a:gd name="adj" fmla="val 16667"/>
            </a:avLst>
          </a:prstGeom>
          <a:solidFill>
            <a:srgbClr val="25304D"/>
          </a:solidFill>
          <a:ln w="15240">
            <a:solidFill>
              <a:srgbClr val="3341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96" name="Picture 8" descr="img_0.png"/>
          <p:cNvPicPr/>
          <p:nvPr/>
        </p:nvPicPr>
        <p:blipFill>
          <a:blip r:embed="rId1"/>
          <a:stretch/>
        </p:blipFill>
        <p:spPr>
          <a:xfrm>
            <a:off x="5943600" y="1737360"/>
            <a:ext cx="5303160" cy="38793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0B0F1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8" name="Rounded Rectangle 2"/>
          <p:cNvSpPr/>
          <p:nvPr/>
        </p:nvSpPr>
        <p:spPr>
          <a:xfrm>
            <a:off x="731520" y="411480"/>
            <a:ext cx="3108600" cy="319680"/>
          </a:xfrm>
          <a:prstGeom prst="roundRect">
            <a:avLst>
              <a:gd name="adj" fmla="val 16667"/>
            </a:avLst>
          </a:prstGeom>
          <a:solidFill>
            <a:srgbClr val="2D2550"/>
          </a:solidFill>
          <a:ln w="12700">
            <a:solidFill>
              <a:srgbClr val="534AB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A5B4FC"/>
                </a:solidFill>
                <a:effectLst/>
                <a:uFillTx/>
                <a:latin typeface="Calibri"/>
              </a:rPr>
              <a:t>TOPIC 05 • TECHNOLOGY STACK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" name="TextBox 3"/>
          <p:cNvSpPr/>
          <p:nvPr/>
        </p:nvSpPr>
        <p:spPr>
          <a:xfrm>
            <a:off x="731520" y="749880"/>
            <a:ext cx="86864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Proven, Modern &amp; Scalable Technology Stack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Box 4"/>
          <p:cNvSpPr/>
          <p:nvPr/>
        </p:nvSpPr>
        <p:spPr>
          <a:xfrm>
            <a:off x="8229600" y="411480"/>
            <a:ext cx="3200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FINDORA  •  BCA 8TH SEMESTER DEFENSE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A5B4FC"/>
                </a:solidFill>
                <a:effectLst/>
                <a:uFillTx/>
                <a:latin typeface="Calibri"/>
              </a:rPr>
              <a:t>06 / 15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Rectangle 5"/>
          <p:cNvSpPr/>
          <p:nvPr/>
        </p:nvSpPr>
        <p:spPr>
          <a:xfrm>
            <a:off x="731520" y="1325880"/>
            <a:ext cx="10728360" cy="12240"/>
          </a:xfrm>
          <a:prstGeom prst="rect">
            <a:avLst/>
          </a:prstGeom>
          <a:solidFill>
            <a:srgbClr val="33415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2400" rIns="90000" bIns="-324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2" name="Rounded Rectangle 6"/>
          <p:cNvSpPr/>
          <p:nvPr/>
        </p:nvSpPr>
        <p:spPr>
          <a:xfrm>
            <a:off x="731520" y="1554480"/>
            <a:ext cx="5166000" cy="2239920"/>
          </a:xfrm>
          <a:prstGeom prst="roundRect">
            <a:avLst>
              <a:gd name="adj" fmla="val 16667"/>
            </a:avLst>
          </a:prstGeom>
          <a:solidFill>
            <a:srgbClr val="182036"/>
          </a:solidFill>
          <a:ln w="15240">
            <a:solidFill>
              <a:srgbClr val="3341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182880" rIns="18288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A5B4FC"/>
                </a:solidFill>
                <a:effectLst/>
                <a:uFillTx/>
                <a:latin typeface="Calibri"/>
              </a:rPr>
              <a:t>📱 Native Android Frontend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150" b="1" u="none" strike="noStrike">
                <a:solidFill>
                  <a:srgbClr val="534AB7"/>
                </a:solidFill>
                <a:effectLst/>
                <a:uFillTx/>
                <a:latin typeface="Calibri"/>
              </a:rPr>
              <a:t>• </a:t>
            </a:r>
            <a:r>
              <a:rPr lang="en-US" sz="115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Java 17 (Native): </a:t>
            </a:r>
            <a:r>
              <a:rPr lang="en-US" sz="115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Native performance, zero bridge overhead, 60 FPS UI.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150" b="1" u="none" strike="noStrike">
                <a:solidFill>
                  <a:srgbClr val="534AB7"/>
                </a:solidFill>
                <a:effectLst/>
                <a:uFillTx/>
                <a:latin typeface="Calibri"/>
              </a:rPr>
              <a:t>• </a:t>
            </a:r>
            <a:r>
              <a:rPr lang="en-US" sz="115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ViewBinding &amp; Material 3: </a:t>
            </a:r>
            <a:r>
              <a:rPr lang="en-US" sz="115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Type-safe view access, modern dark theme components.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150" b="1" u="none" strike="noStrike">
                <a:solidFill>
                  <a:srgbClr val="534AB7"/>
                </a:solidFill>
                <a:effectLst/>
                <a:uFillTx/>
                <a:latin typeface="Calibri"/>
              </a:rPr>
              <a:t>• </a:t>
            </a:r>
            <a:r>
              <a:rPr lang="en-US" sz="115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Retrofit 2 &amp; OkHttp 3: </a:t>
            </a:r>
            <a:r>
              <a:rPr lang="en-US" sz="115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Type-safe asynchronous REST networking with token interceptors.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150" b="1" u="none" strike="noStrike">
                <a:solidFill>
                  <a:srgbClr val="534AB7"/>
                </a:solidFill>
                <a:effectLst/>
                <a:uFillTx/>
                <a:latin typeface="Calibri"/>
              </a:rPr>
              <a:t>• </a:t>
            </a:r>
            <a:r>
              <a:rPr lang="en-US" sz="115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Glide Image Loader: </a:t>
            </a:r>
            <a:r>
              <a:rPr lang="en-US" sz="115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Hardware bitmap decoding with L1 memory &amp; L2 disk caching.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" name="Rounded Rectangle 7"/>
          <p:cNvSpPr/>
          <p:nvPr/>
        </p:nvSpPr>
        <p:spPr>
          <a:xfrm>
            <a:off x="6263640" y="1554480"/>
            <a:ext cx="5166000" cy="2239920"/>
          </a:xfrm>
          <a:prstGeom prst="roundRect">
            <a:avLst>
              <a:gd name="adj" fmla="val 16667"/>
            </a:avLst>
          </a:prstGeom>
          <a:solidFill>
            <a:srgbClr val="182036"/>
          </a:solidFill>
          <a:ln w="15240">
            <a:solidFill>
              <a:srgbClr val="3341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182880" rIns="18288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4ADE80"/>
                </a:solidFill>
                <a:effectLst/>
                <a:uFillTx/>
                <a:latin typeface="Calibri"/>
              </a:rPr>
              <a:t>⚙️ Backend &amp; API Services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150" b="1" u="none" strike="noStrike">
                <a:solidFill>
                  <a:srgbClr val="534AB7"/>
                </a:solidFill>
                <a:effectLst/>
                <a:uFillTx/>
                <a:latin typeface="Calibri"/>
              </a:rPr>
              <a:t>• </a:t>
            </a:r>
            <a:r>
              <a:rPr lang="en-US" sz="115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Python 3.12 &amp; Django 5.1/6.0: </a:t>
            </a:r>
            <a:r>
              <a:rPr lang="en-US" sz="115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Robust enterprise web framework with built-in ORM.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150" b="1" u="none" strike="noStrike">
                <a:solidFill>
                  <a:srgbClr val="534AB7"/>
                </a:solidFill>
                <a:effectLst/>
                <a:uFillTx/>
                <a:latin typeface="Calibri"/>
              </a:rPr>
              <a:t>• </a:t>
            </a:r>
            <a:r>
              <a:rPr lang="en-US" sz="115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Django REST Framework: </a:t>
            </a:r>
            <a:r>
              <a:rPr lang="en-US" sz="115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Stateless JSON serializers, viewsets, and permissions.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150" b="1" u="none" strike="noStrike">
                <a:solidFill>
                  <a:srgbClr val="534AB7"/>
                </a:solidFill>
                <a:effectLst/>
                <a:uFillTx/>
                <a:latin typeface="Calibri"/>
              </a:rPr>
              <a:t>• </a:t>
            </a:r>
            <a:r>
              <a:rPr lang="en-US" sz="115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SimpleJWT Authentication: </a:t>
            </a:r>
            <a:r>
              <a:rPr lang="en-US" sz="115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Stateless HMAC-SHA256 access &amp; refresh bearer tokens.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150" b="1" u="none" strike="noStrike">
                <a:solidFill>
                  <a:srgbClr val="534AB7"/>
                </a:solidFill>
                <a:effectLst/>
                <a:uFillTx/>
                <a:latin typeface="Calibri"/>
              </a:rPr>
              <a:t>• </a:t>
            </a:r>
            <a:r>
              <a:rPr lang="en-US" sz="115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Gunicorn &amp; Whitenoise: </a:t>
            </a:r>
            <a:r>
              <a:rPr lang="en-US" sz="115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High-concurrency WSGI application server with static asset engine.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" name="Rounded Rectangle 8"/>
          <p:cNvSpPr/>
          <p:nvPr/>
        </p:nvSpPr>
        <p:spPr>
          <a:xfrm>
            <a:off x="731520" y="4069080"/>
            <a:ext cx="5166000" cy="2239920"/>
          </a:xfrm>
          <a:prstGeom prst="roundRect">
            <a:avLst>
              <a:gd name="adj" fmla="val 16667"/>
            </a:avLst>
          </a:prstGeom>
          <a:solidFill>
            <a:srgbClr val="182036"/>
          </a:solidFill>
          <a:ln w="15240">
            <a:solidFill>
              <a:srgbClr val="3341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182880" rIns="18288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FBBF24"/>
                </a:solidFill>
                <a:effectLst/>
                <a:uFillTx/>
                <a:latin typeface="Calibri"/>
              </a:rPr>
              <a:t>🗄️ Database &amp; Cloud Infrastructure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150" b="1" u="none" strike="noStrike">
                <a:solidFill>
                  <a:srgbClr val="534AB7"/>
                </a:solidFill>
                <a:effectLst/>
                <a:uFillTx/>
                <a:latin typeface="Calibri"/>
              </a:rPr>
              <a:t>• </a:t>
            </a:r>
            <a:r>
              <a:rPr lang="en-US" sz="115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PostgreSQL Database: </a:t>
            </a:r>
            <a:r>
              <a:rPr lang="en-US" sz="115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ACID-compliant relational database normalized to 3NF.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150" b="1" u="none" strike="noStrike">
                <a:solidFill>
                  <a:srgbClr val="534AB7"/>
                </a:solidFill>
                <a:effectLst/>
                <a:uFillTx/>
                <a:latin typeface="Calibri"/>
              </a:rPr>
              <a:t>• </a:t>
            </a:r>
            <a:r>
              <a:rPr lang="en-US" sz="115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Backblaze B2 Cloud Storage: </a:t>
            </a:r>
            <a:r>
              <a:rPr lang="en-US" sz="115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S3-compatible encrypted cloud bucket for user photos.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150" b="1" u="none" strike="noStrike">
                <a:solidFill>
                  <a:srgbClr val="534AB7"/>
                </a:solidFill>
                <a:effectLst/>
                <a:uFillTx/>
                <a:latin typeface="Calibri"/>
              </a:rPr>
              <a:t>• </a:t>
            </a:r>
            <a:r>
              <a:rPr lang="en-US" sz="115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Brevo (Sendinblue) API: </a:t>
            </a:r>
            <a:r>
              <a:rPr lang="en-US" sz="115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High-deliverability transactional email service for OTP verification.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" name="Rounded Rectangle 9"/>
          <p:cNvSpPr/>
          <p:nvPr/>
        </p:nvSpPr>
        <p:spPr>
          <a:xfrm>
            <a:off x="6263640" y="4069080"/>
            <a:ext cx="5166000" cy="2239920"/>
          </a:xfrm>
          <a:prstGeom prst="roundRect">
            <a:avLst>
              <a:gd name="adj" fmla="val 16667"/>
            </a:avLst>
          </a:prstGeom>
          <a:solidFill>
            <a:srgbClr val="182036"/>
          </a:solidFill>
          <a:ln w="15240">
            <a:solidFill>
              <a:srgbClr val="3341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182880" rIns="18288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A5B4FC"/>
                </a:solidFill>
                <a:effectLst/>
                <a:uFillTx/>
                <a:latin typeface="Calibri"/>
              </a:rPr>
              <a:t>🛠️ Payments &amp; DevOps Pipeline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150" b="1" u="none" strike="noStrike">
                <a:solidFill>
                  <a:srgbClr val="534AB7"/>
                </a:solidFill>
                <a:effectLst/>
                <a:uFillTx/>
                <a:latin typeface="Calibri"/>
              </a:rPr>
              <a:t>• </a:t>
            </a:r>
            <a:r>
              <a:rPr lang="en-US" sz="115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eSewa Payment Gateway: </a:t>
            </a:r>
            <a:r>
              <a:rPr lang="en-US" sz="115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Digital wallet integration for optional paid featured listings.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150" b="1" u="none" strike="noStrike">
                <a:solidFill>
                  <a:srgbClr val="534AB7"/>
                </a:solidFill>
                <a:effectLst/>
                <a:uFillTx/>
                <a:latin typeface="Calibri"/>
              </a:rPr>
              <a:t>• </a:t>
            </a:r>
            <a:r>
              <a:rPr lang="en-US" sz="115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Render Cloud Platform: </a:t>
            </a:r>
            <a:r>
              <a:rPr lang="en-US" sz="115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Managed automated continuous deployment with health checks.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150" b="1" u="none" strike="noStrike">
                <a:solidFill>
                  <a:srgbClr val="534AB7"/>
                </a:solidFill>
                <a:effectLst/>
                <a:uFillTx/>
                <a:latin typeface="Calibri"/>
              </a:rPr>
              <a:t>• </a:t>
            </a:r>
            <a:r>
              <a:rPr lang="en-US" sz="115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Git, GitHub &amp; Postman: </a:t>
            </a:r>
            <a:r>
              <a:rPr lang="en-US" sz="115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Branch-based team version control and automated API test collections.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0B0F1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7" name="Rounded Rectangle 2"/>
          <p:cNvSpPr/>
          <p:nvPr/>
        </p:nvSpPr>
        <p:spPr>
          <a:xfrm>
            <a:off x="731520" y="411480"/>
            <a:ext cx="3108600" cy="319680"/>
          </a:xfrm>
          <a:prstGeom prst="roundRect">
            <a:avLst>
              <a:gd name="adj" fmla="val 16667"/>
            </a:avLst>
          </a:prstGeom>
          <a:solidFill>
            <a:srgbClr val="2D2550"/>
          </a:solidFill>
          <a:ln w="12700">
            <a:solidFill>
              <a:srgbClr val="534AB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A5B4FC"/>
                </a:solidFill>
                <a:effectLst/>
                <a:uFillTx/>
                <a:latin typeface="Calibri"/>
              </a:rPr>
              <a:t>TOPIC 06 • APP WALKTHROUGH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Box 3"/>
          <p:cNvSpPr/>
          <p:nvPr/>
        </p:nvSpPr>
        <p:spPr>
          <a:xfrm>
            <a:off x="731520" y="749880"/>
            <a:ext cx="86864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Mobile Experience: Discovery, Search &amp; Item Details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Box 4"/>
          <p:cNvSpPr/>
          <p:nvPr/>
        </p:nvSpPr>
        <p:spPr>
          <a:xfrm>
            <a:off x="8229600" y="411480"/>
            <a:ext cx="3200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FINDORA  •  BCA 8TH SEMESTER DEFENSE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A5B4FC"/>
                </a:solidFill>
                <a:effectLst/>
                <a:uFillTx/>
                <a:latin typeface="Calibri"/>
              </a:rPr>
              <a:t>07 / 15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Rectangle 5"/>
          <p:cNvSpPr/>
          <p:nvPr/>
        </p:nvSpPr>
        <p:spPr>
          <a:xfrm>
            <a:off x="731520" y="1325880"/>
            <a:ext cx="10728360" cy="12240"/>
          </a:xfrm>
          <a:prstGeom prst="rect">
            <a:avLst/>
          </a:prstGeom>
          <a:solidFill>
            <a:srgbClr val="33415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2400" rIns="90000" bIns="-324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" name="Rounded Rectangle 6"/>
          <p:cNvSpPr/>
          <p:nvPr/>
        </p:nvSpPr>
        <p:spPr>
          <a:xfrm>
            <a:off x="731520" y="1554480"/>
            <a:ext cx="4754520" cy="4754520"/>
          </a:xfrm>
          <a:prstGeom prst="roundRect">
            <a:avLst>
              <a:gd name="adj" fmla="val 16667"/>
            </a:avLst>
          </a:prstGeom>
          <a:solidFill>
            <a:srgbClr val="182036"/>
          </a:solidFill>
          <a:ln w="15240">
            <a:solidFill>
              <a:srgbClr val="3341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74320" tIns="274320" rIns="274320" bIns="45000" anchor="ctr">
            <a:noAutofit/>
          </a:bodyPr>
          <a:p>
            <a:pPr algn="ctr" defTabSz="457200">
              <a:lnSpc>
                <a:spcPct val="100000"/>
              </a:lnSpc>
              <a:spcAft>
                <a:spcPts val="1199"/>
              </a:spcAft>
            </a:pPr>
            <a:r>
              <a:rPr lang="en-US" sz="1700" b="1" u="none" strike="noStrike">
                <a:solidFill>
                  <a:srgbClr val="4ADE80"/>
                </a:solidFill>
                <a:effectLst/>
                <a:uFillTx/>
                <a:latin typeface="Calibri"/>
              </a:rPr>
              <a:t>Key UI &amp; Functional Features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250" b="1" u="none" strike="noStrike">
                <a:solidFill>
                  <a:srgbClr val="534AB7"/>
                </a:solidFill>
                <a:effectLst/>
                <a:uFillTx/>
                <a:latin typeface="Calibri"/>
              </a:rPr>
              <a:t>• </a:t>
            </a:r>
            <a:r>
              <a:rPr lang="en-US" sz="125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Instant Live Search: </a:t>
            </a:r>
            <a:r>
              <a:rPr lang="en-US" sz="125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Real-time search filtering listings dynamically by title, keyword, or landmark.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250" b="1" u="none" strike="noStrike">
                <a:solidFill>
                  <a:srgbClr val="534AB7"/>
                </a:solidFill>
                <a:effectLst/>
                <a:uFillTx/>
                <a:latin typeface="Calibri"/>
              </a:rPr>
              <a:t>• </a:t>
            </a:r>
            <a:r>
              <a:rPr lang="en-US" sz="125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Category Filter Chips: </a:t>
            </a:r>
            <a:r>
              <a:rPr lang="en-US" sz="125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Quick toggles for Electronics, Wallets, Documents, Keys, Books, and Others.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250" b="1" u="none" strike="noStrike">
                <a:solidFill>
                  <a:srgbClr val="534AB7"/>
                </a:solidFill>
                <a:effectLst/>
                <a:uFillTx/>
                <a:latin typeface="Calibri"/>
              </a:rPr>
              <a:t>• </a:t>
            </a:r>
            <a:r>
              <a:rPr lang="en-US" sz="125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Status Badges: </a:t>
            </a:r>
            <a:r>
              <a:rPr lang="en-US" sz="125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High-contrast visual tags indicating 'LOST' (red) and 'FOUND' (green) states.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250" b="1" u="none" strike="noStrike">
                <a:solidFill>
                  <a:srgbClr val="534AB7"/>
                </a:solidFill>
                <a:effectLst/>
                <a:uFillTx/>
                <a:latin typeface="Calibri"/>
              </a:rPr>
              <a:t>• </a:t>
            </a:r>
            <a:r>
              <a:rPr lang="en-US" sz="125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Google Maps Pinning: </a:t>
            </a:r>
            <a:r>
              <a:rPr lang="en-US" sz="125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'View Map' button opening external Google Maps at exact item coordinates.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250" b="1" u="none" strike="noStrike">
                <a:solidFill>
                  <a:srgbClr val="534AB7"/>
                </a:solidFill>
                <a:effectLst/>
                <a:uFillTx/>
                <a:latin typeface="Calibri"/>
              </a:rPr>
              <a:t>• </a:t>
            </a:r>
            <a:r>
              <a:rPr lang="en-US" sz="125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Contact &amp; Claim Actions: </a:t>
            </a:r>
            <a:r>
              <a:rPr lang="en-US" sz="125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Direct triggers for 1-on-1 private chat and secret question verification.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" name="Rounded Rectangle 7"/>
          <p:cNvSpPr/>
          <p:nvPr/>
        </p:nvSpPr>
        <p:spPr>
          <a:xfrm>
            <a:off x="5760720" y="1554480"/>
            <a:ext cx="5668920" cy="4754520"/>
          </a:xfrm>
          <a:prstGeom prst="roundRect">
            <a:avLst>
              <a:gd name="adj" fmla="val 16667"/>
            </a:avLst>
          </a:prstGeom>
          <a:solidFill>
            <a:srgbClr val="25304D"/>
          </a:solidFill>
          <a:ln w="15240">
            <a:solidFill>
              <a:srgbClr val="3341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13" name="Picture 8" descr="finder dashboards 5.png"/>
          <p:cNvPicPr/>
          <p:nvPr/>
        </p:nvPicPr>
        <p:blipFill>
          <a:blip r:embed="rId1"/>
          <a:stretch/>
        </p:blipFill>
        <p:spPr>
          <a:xfrm>
            <a:off x="6035040" y="1691640"/>
            <a:ext cx="2377080" cy="3812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4" name="Picture 9" descr="finderac 4.png"/>
          <p:cNvPicPr/>
          <p:nvPr/>
        </p:nvPicPr>
        <p:blipFill>
          <a:blip r:embed="rId2"/>
          <a:stretch/>
        </p:blipFill>
        <p:spPr>
          <a:xfrm>
            <a:off x="8686800" y="1691640"/>
            <a:ext cx="2377080" cy="38692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0B0F1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" name="Rounded Rectangle 2"/>
          <p:cNvSpPr/>
          <p:nvPr/>
        </p:nvSpPr>
        <p:spPr>
          <a:xfrm>
            <a:off x="731520" y="411480"/>
            <a:ext cx="3108600" cy="319680"/>
          </a:xfrm>
          <a:prstGeom prst="roundRect">
            <a:avLst>
              <a:gd name="adj" fmla="val 16667"/>
            </a:avLst>
          </a:prstGeom>
          <a:solidFill>
            <a:srgbClr val="2D2550"/>
          </a:solidFill>
          <a:ln w="12700">
            <a:solidFill>
              <a:srgbClr val="534AB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A5B4FC"/>
                </a:solidFill>
                <a:effectLst/>
                <a:uFillTx/>
                <a:latin typeface="Calibri"/>
              </a:rPr>
              <a:t>TOPIC 07 • APP WALKTHROUGH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Box 3"/>
          <p:cNvSpPr/>
          <p:nvPr/>
        </p:nvSpPr>
        <p:spPr>
          <a:xfrm>
            <a:off x="731520" y="749880"/>
            <a:ext cx="86864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Mobile Experience: Lost &amp; Found Item Reporting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Box 4"/>
          <p:cNvSpPr/>
          <p:nvPr/>
        </p:nvSpPr>
        <p:spPr>
          <a:xfrm>
            <a:off x="8229600" y="411480"/>
            <a:ext cx="3200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FINDORA  •  BCA 8TH SEMESTER DEFENSE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A5B4FC"/>
                </a:solidFill>
                <a:effectLst/>
                <a:uFillTx/>
                <a:latin typeface="Calibri"/>
              </a:rPr>
              <a:t>08 / 15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Rectangle 5"/>
          <p:cNvSpPr/>
          <p:nvPr/>
        </p:nvSpPr>
        <p:spPr>
          <a:xfrm>
            <a:off x="731520" y="1325880"/>
            <a:ext cx="10728360" cy="12240"/>
          </a:xfrm>
          <a:prstGeom prst="rect">
            <a:avLst/>
          </a:prstGeom>
          <a:solidFill>
            <a:srgbClr val="33415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2400" rIns="90000" bIns="-324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0" name="Rounded Rectangle 6"/>
          <p:cNvSpPr/>
          <p:nvPr/>
        </p:nvSpPr>
        <p:spPr>
          <a:xfrm>
            <a:off x="731520" y="1554480"/>
            <a:ext cx="4754520" cy="4754520"/>
          </a:xfrm>
          <a:prstGeom prst="roundRect">
            <a:avLst>
              <a:gd name="adj" fmla="val 16667"/>
            </a:avLst>
          </a:prstGeom>
          <a:solidFill>
            <a:srgbClr val="182036"/>
          </a:solidFill>
          <a:ln w="15240">
            <a:solidFill>
              <a:srgbClr val="3341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74320" tIns="274320" rIns="274320" bIns="45000" anchor="ctr">
            <a:noAutofit/>
          </a:bodyPr>
          <a:p>
            <a:pPr algn="ctr" defTabSz="457200">
              <a:lnSpc>
                <a:spcPct val="100000"/>
              </a:lnSpc>
              <a:spcAft>
                <a:spcPts val="1199"/>
              </a:spcAft>
            </a:pPr>
            <a:r>
              <a:rPr lang="en-US" sz="1700" b="1" u="none" strike="noStrike">
                <a:solidFill>
                  <a:srgbClr val="A5B4FC"/>
                </a:solidFill>
                <a:effectLst/>
                <a:uFillTx/>
                <a:latin typeface="Calibri"/>
              </a:rPr>
              <a:t>Structured Reporting Workflows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250" b="1" u="none" strike="noStrike">
                <a:solidFill>
                  <a:srgbClr val="534AB7"/>
                </a:solidFill>
                <a:effectLst/>
                <a:uFillTx/>
                <a:latin typeface="Calibri"/>
              </a:rPr>
              <a:t>• </a:t>
            </a:r>
            <a:r>
              <a:rPr lang="en-US" sz="125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Report Lost Item: </a:t>
            </a:r>
            <a:r>
              <a:rPr lang="en-US" sz="125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Capture category, distinct descriptors, date/time lost, location context, and optional photos.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250" b="1" u="none" strike="noStrike">
                <a:solidFill>
                  <a:srgbClr val="534AB7"/>
                </a:solidFill>
                <a:effectLst/>
                <a:uFillTx/>
                <a:latin typeface="Calibri"/>
              </a:rPr>
              <a:t>• </a:t>
            </a:r>
            <a:r>
              <a:rPr lang="en-US" sz="125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Report Found Item: </a:t>
            </a:r>
            <a:r>
              <a:rPr lang="en-US" sz="125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Mandatory clear photo capture with camera/gallery image compression.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250" b="1" u="none" strike="noStrike">
                <a:solidFill>
                  <a:srgbClr val="534AB7"/>
                </a:solidFill>
                <a:effectLst/>
                <a:uFillTx/>
                <a:latin typeface="Calibri"/>
              </a:rPr>
              <a:t>• </a:t>
            </a:r>
            <a:r>
              <a:rPr lang="en-US" sz="125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Secret Proof Question: </a:t>
            </a:r>
            <a:r>
              <a:rPr lang="en-US" sz="125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Finder sets a custom validation question (e.g. 'What is written on the back of the card?') to stop false claims.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250" b="1" u="none" strike="noStrike">
                <a:solidFill>
                  <a:srgbClr val="534AB7"/>
                </a:solidFill>
                <a:effectLst/>
                <a:uFillTx/>
                <a:latin typeface="Calibri"/>
              </a:rPr>
              <a:t>• </a:t>
            </a:r>
            <a:r>
              <a:rPr lang="en-US" sz="125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0ms Cache Sync: </a:t>
            </a:r>
            <a:r>
              <a:rPr lang="en-US" sz="125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Instant in-memory cache update ensures newly created items appear on the feed without latency.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" name="Rounded Rectangle 7"/>
          <p:cNvSpPr/>
          <p:nvPr/>
        </p:nvSpPr>
        <p:spPr>
          <a:xfrm>
            <a:off x="5760720" y="1554480"/>
            <a:ext cx="5668920" cy="4754520"/>
          </a:xfrm>
          <a:prstGeom prst="roundRect">
            <a:avLst>
              <a:gd name="adj" fmla="val 16667"/>
            </a:avLst>
          </a:prstGeom>
          <a:solidFill>
            <a:srgbClr val="25304D"/>
          </a:solidFill>
          <a:ln w="15240">
            <a:solidFill>
              <a:srgbClr val="3341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22" name="Picture 8" descr="report lost item.png"/>
          <p:cNvPicPr/>
          <p:nvPr/>
        </p:nvPicPr>
        <p:blipFill>
          <a:blip r:embed="rId1"/>
          <a:stretch/>
        </p:blipFill>
        <p:spPr>
          <a:xfrm>
            <a:off x="6035040" y="1691640"/>
            <a:ext cx="2377080" cy="3588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3" name="Picture 9" descr="reporting found item 6.png"/>
          <p:cNvPicPr/>
          <p:nvPr/>
        </p:nvPicPr>
        <p:blipFill>
          <a:blip r:embed="rId2"/>
          <a:stretch/>
        </p:blipFill>
        <p:spPr>
          <a:xfrm>
            <a:off x="8686800" y="1691640"/>
            <a:ext cx="2377080" cy="4152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0B0F1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" name="Rounded Rectangle 2"/>
          <p:cNvSpPr/>
          <p:nvPr/>
        </p:nvSpPr>
        <p:spPr>
          <a:xfrm>
            <a:off x="731520" y="411480"/>
            <a:ext cx="3108600" cy="319680"/>
          </a:xfrm>
          <a:prstGeom prst="roundRect">
            <a:avLst>
              <a:gd name="adj" fmla="val 16667"/>
            </a:avLst>
          </a:prstGeom>
          <a:solidFill>
            <a:srgbClr val="2D2550"/>
          </a:solidFill>
          <a:ln w="12700">
            <a:solidFill>
              <a:srgbClr val="534AB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A5B4FC"/>
                </a:solidFill>
                <a:effectLst/>
                <a:uFillTx/>
                <a:latin typeface="Calibri"/>
              </a:rPr>
              <a:t>TOPIC 08 • APP WALKTHROUGH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Box 3"/>
          <p:cNvSpPr/>
          <p:nvPr/>
        </p:nvSpPr>
        <p:spPr>
          <a:xfrm>
            <a:off x="731520" y="749880"/>
            <a:ext cx="86864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Mobile Experience: Claiming, Real-Time Chat &amp; Return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Box 4"/>
          <p:cNvSpPr/>
          <p:nvPr/>
        </p:nvSpPr>
        <p:spPr>
          <a:xfrm>
            <a:off x="8229600" y="411480"/>
            <a:ext cx="3200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FINDORA  •  BCA 8TH SEMESTER DEFENSE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A5B4FC"/>
                </a:solidFill>
                <a:effectLst/>
                <a:uFillTx/>
                <a:latin typeface="Calibri"/>
              </a:rPr>
              <a:t>09 / 15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Rectangle 5"/>
          <p:cNvSpPr/>
          <p:nvPr/>
        </p:nvSpPr>
        <p:spPr>
          <a:xfrm>
            <a:off x="731520" y="1325880"/>
            <a:ext cx="10728360" cy="12240"/>
          </a:xfrm>
          <a:prstGeom prst="rect">
            <a:avLst/>
          </a:prstGeom>
          <a:solidFill>
            <a:srgbClr val="33415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2400" rIns="90000" bIns="-324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" name="Rounded Rectangle 6"/>
          <p:cNvSpPr/>
          <p:nvPr/>
        </p:nvSpPr>
        <p:spPr>
          <a:xfrm>
            <a:off x="731520" y="1554480"/>
            <a:ext cx="4754520" cy="4754520"/>
          </a:xfrm>
          <a:prstGeom prst="roundRect">
            <a:avLst>
              <a:gd name="adj" fmla="val 16667"/>
            </a:avLst>
          </a:prstGeom>
          <a:solidFill>
            <a:srgbClr val="182036"/>
          </a:solidFill>
          <a:ln w="15240">
            <a:solidFill>
              <a:srgbClr val="3341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74320" tIns="274320" rIns="274320" bIns="45000" anchor="ctr">
            <a:noAutofit/>
          </a:bodyPr>
          <a:p>
            <a:pPr algn="ctr" defTabSz="457200">
              <a:lnSpc>
                <a:spcPct val="100000"/>
              </a:lnSpc>
              <a:spcAft>
                <a:spcPts val="1199"/>
              </a:spcAft>
            </a:pPr>
            <a:r>
              <a:rPr lang="en-US" sz="1700" b="1" u="none" strike="noStrike">
                <a:solidFill>
                  <a:srgbClr val="4ADE80"/>
                </a:solidFill>
                <a:effectLst/>
                <a:uFillTx/>
                <a:latin typeface="Calibri"/>
              </a:rPr>
              <a:t>Safe Communication &amp; Handover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250" b="1" u="none" strike="noStrike">
                <a:solidFill>
                  <a:srgbClr val="534AB7"/>
                </a:solidFill>
                <a:effectLst/>
                <a:uFillTx/>
                <a:latin typeface="Calibri"/>
              </a:rPr>
              <a:t>• </a:t>
            </a:r>
            <a:r>
              <a:rPr lang="en-US" sz="125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Secret Proof Claiming: </a:t>
            </a:r>
            <a:r>
              <a:rPr lang="en-US" sz="125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Claimant submits private answer to secret question along with optional receipts or ID proof.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250" b="1" u="none" strike="noStrike">
                <a:solidFill>
                  <a:srgbClr val="534AB7"/>
                </a:solidFill>
                <a:effectLst/>
                <a:uFillTx/>
                <a:latin typeface="Calibri"/>
              </a:rPr>
              <a:t>• </a:t>
            </a:r>
            <a:r>
              <a:rPr lang="en-US" sz="125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1-on-1 In-App Messaging: </a:t>
            </a:r>
            <a:r>
              <a:rPr lang="en-US" sz="125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Real-time chat with sent/received bubbles, photo attachment, and edit/delete context options.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250" b="1" u="none" strike="noStrike">
                <a:solidFill>
                  <a:srgbClr val="534AB7"/>
                </a:solidFill>
                <a:effectLst/>
                <a:uFillTx/>
                <a:latin typeface="Calibri"/>
              </a:rPr>
              <a:t>• </a:t>
            </a:r>
            <a:r>
              <a:rPr lang="en-US" sz="125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Dual Confirmation Handshake: </a:t>
            </a:r>
            <a:r>
              <a:rPr lang="en-US" sz="125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Both Owner &amp; Finder tap 'Confirm Return' in-app during physical handover to resolve item.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250" b="1" u="none" strike="noStrike">
                <a:solidFill>
                  <a:srgbClr val="534AB7"/>
                </a:solidFill>
                <a:effectLst/>
                <a:uFillTx/>
                <a:latin typeface="Calibri"/>
              </a:rPr>
              <a:t>• </a:t>
            </a:r>
            <a:r>
              <a:rPr lang="en-US" sz="125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Karma Points &amp; Rating: </a:t>
            </a:r>
            <a:r>
              <a:rPr lang="en-US" sz="125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Finder automatically receives +50 Karma Points and public 5-Star Rating upon resolution.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" name="Rounded Rectangle 7"/>
          <p:cNvSpPr/>
          <p:nvPr/>
        </p:nvSpPr>
        <p:spPr>
          <a:xfrm>
            <a:off x="5760720" y="1554480"/>
            <a:ext cx="5668920" cy="4754520"/>
          </a:xfrm>
          <a:prstGeom prst="roundRect">
            <a:avLst>
              <a:gd name="adj" fmla="val 16667"/>
            </a:avLst>
          </a:prstGeom>
          <a:solidFill>
            <a:srgbClr val="25304D"/>
          </a:solidFill>
          <a:ln w="15240">
            <a:solidFill>
              <a:srgbClr val="3341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31" name="Picture 8" descr="report item 3.png"/>
          <p:cNvPicPr/>
          <p:nvPr/>
        </p:nvPicPr>
        <p:blipFill>
          <a:blip r:embed="rId1"/>
          <a:stretch/>
        </p:blipFill>
        <p:spPr>
          <a:xfrm>
            <a:off x="6035040" y="1691640"/>
            <a:ext cx="2377080" cy="3955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2" name="Picture 9" descr="chat.png"/>
          <p:cNvPicPr/>
          <p:nvPr/>
        </p:nvPicPr>
        <p:blipFill>
          <a:blip r:embed="rId2"/>
          <a:stretch/>
        </p:blipFill>
        <p:spPr>
          <a:xfrm>
            <a:off x="8686800" y="1691640"/>
            <a:ext cx="2377080" cy="38581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0B0F1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" name="Rounded Rectangle 2"/>
          <p:cNvSpPr/>
          <p:nvPr/>
        </p:nvSpPr>
        <p:spPr>
          <a:xfrm>
            <a:off x="731520" y="411480"/>
            <a:ext cx="3108600" cy="319680"/>
          </a:xfrm>
          <a:prstGeom prst="roundRect">
            <a:avLst>
              <a:gd name="adj" fmla="val 16667"/>
            </a:avLst>
          </a:prstGeom>
          <a:solidFill>
            <a:srgbClr val="2D2550"/>
          </a:solidFill>
          <a:ln w="12700">
            <a:solidFill>
              <a:srgbClr val="534AB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A5B4FC"/>
                </a:solidFill>
                <a:effectLst/>
                <a:uFillTx/>
                <a:latin typeface="Calibri"/>
              </a:rPr>
              <a:t>TOPIC 09 • ADMIN CONSOLE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Box 3"/>
          <p:cNvSpPr/>
          <p:nvPr/>
        </p:nvSpPr>
        <p:spPr>
          <a:xfrm>
            <a:off x="731520" y="749880"/>
            <a:ext cx="86864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Web Administrator: Moderation, Dispute &amp; Analytics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Box 4"/>
          <p:cNvSpPr/>
          <p:nvPr/>
        </p:nvSpPr>
        <p:spPr>
          <a:xfrm>
            <a:off x="8229600" y="411480"/>
            <a:ext cx="3200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FINDORA  •  BCA 8TH SEMESTER DEFENSE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A5B4FC"/>
                </a:solidFill>
                <a:effectLst/>
                <a:uFillTx/>
                <a:latin typeface="Calibri"/>
              </a:rPr>
              <a:t>10 / 15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Rectangle 5"/>
          <p:cNvSpPr/>
          <p:nvPr/>
        </p:nvSpPr>
        <p:spPr>
          <a:xfrm>
            <a:off x="731520" y="1325880"/>
            <a:ext cx="10728360" cy="12240"/>
          </a:xfrm>
          <a:prstGeom prst="rect">
            <a:avLst/>
          </a:prstGeom>
          <a:solidFill>
            <a:srgbClr val="33415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2400" rIns="90000" bIns="-324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" name="Rounded Rectangle 6"/>
          <p:cNvSpPr/>
          <p:nvPr/>
        </p:nvSpPr>
        <p:spPr>
          <a:xfrm>
            <a:off x="731520" y="1554480"/>
            <a:ext cx="4388760" cy="4754520"/>
          </a:xfrm>
          <a:prstGeom prst="roundRect">
            <a:avLst>
              <a:gd name="adj" fmla="val 16667"/>
            </a:avLst>
          </a:prstGeom>
          <a:solidFill>
            <a:srgbClr val="182036"/>
          </a:solidFill>
          <a:ln w="15240">
            <a:solidFill>
              <a:srgbClr val="3341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74320" tIns="274320" rIns="274320" bIns="45000" anchor="ctr">
            <a:noAutofit/>
          </a:bodyPr>
          <a:p>
            <a:pPr algn="ctr" defTabSz="457200">
              <a:lnSpc>
                <a:spcPct val="100000"/>
              </a:lnSpc>
              <a:spcAft>
                <a:spcPts val="1199"/>
              </a:spcAft>
            </a:pPr>
            <a:r>
              <a:rPr lang="en-US" sz="1700" b="1" u="none" strike="noStrike">
                <a:solidFill>
                  <a:srgbClr val="FBBF24"/>
                </a:solidFill>
                <a:effectLst/>
                <a:uFillTx/>
                <a:latin typeface="Calibri"/>
              </a:rPr>
              <a:t>Centralized Platform Oversight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200" b="1" u="none" strike="noStrike">
                <a:solidFill>
                  <a:srgbClr val="534AB7"/>
                </a:solidFill>
                <a:effectLst/>
                <a:uFillTx/>
                <a:latin typeface="Calibri"/>
              </a:rPr>
              <a:t>• </a:t>
            </a:r>
            <a:r>
              <a:rPr lang="en-US" sz="120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Item Moderation Registry: </a:t>
            </a:r>
            <a:r>
              <a:rPr lang="en-US" sz="12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Comprehensive table of all reports with filters (Pending, Approved, Flagged, Resolved).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200" b="1" u="none" strike="noStrike">
                <a:solidFill>
                  <a:srgbClr val="534AB7"/>
                </a:solidFill>
                <a:effectLst/>
                <a:uFillTx/>
                <a:latin typeface="Calibri"/>
              </a:rPr>
              <a:t>• </a:t>
            </a:r>
            <a:r>
              <a:rPr lang="en-US" sz="120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Evidence &amp; Proof Audit: </a:t>
            </a:r>
            <a:r>
              <a:rPr lang="en-US" sz="12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Side-by-side inspection of found item photos, claimant proofs, and secret answers.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200" b="1" u="none" strike="noStrike">
                <a:solidFill>
                  <a:srgbClr val="534AB7"/>
                </a:solidFill>
                <a:effectLst/>
                <a:uFillTx/>
                <a:latin typeface="Calibri"/>
              </a:rPr>
              <a:t>• </a:t>
            </a:r>
            <a:r>
              <a:rPr lang="en-US" sz="120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Dispute Resolution Override: </a:t>
            </a:r>
            <a:r>
              <a:rPr lang="en-US" sz="12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Administrative controls to mediate conflicting claims and prevent fraudulent takeovers.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200" b="1" u="none" strike="noStrike">
                <a:solidFill>
                  <a:srgbClr val="534AB7"/>
                </a:solidFill>
                <a:effectLst/>
                <a:uFillTx/>
                <a:latin typeface="Calibri"/>
              </a:rPr>
              <a:t>• </a:t>
            </a:r>
            <a:r>
              <a:rPr lang="en-US" sz="120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Platform Health &amp; Analytics: </a:t>
            </a:r>
            <a:r>
              <a:rPr lang="en-US" sz="12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Real-time metrics on registered users, active reports, return rates, and server latency.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" name="Rounded Rectangle 7"/>
          <p:cNvSpPr/>
          <p:nvPr/>
        </p:nvSpPr>
        <p:spPr>
          <a:xfrm>
            <a:off x="5394960" y="1554480"/>
            <a:ext cx="6034680" cy="4754520"/>
          </a:xfrm>
          <a:prstGeom prst="roundRect">
            <a:avLst>
              <a:gd name="adj" fmla="val 16667"/>
            </a:avLst>
          </a:prstGeom>
          <a:solidFill>
            <a:srgbClr val="25304D"/>
          </a:solidFill>
          <a:ln w="15240">
            <a:solidFill>
              <a:srgbClr val="3341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40" name="Picture 8" descr="verify item1.png"/>
          <p:cNvPicPr/>
          <p:nvPr/>
        </p:nvPicPr>
        <p:blipFill>
          <a:blip r:embed="rId1"/>
          <a:stretch/>
        </p:blipFill>
        <p:spPr>
          <a:xfrm>
            <a:off x="5577840" y="1691640"/>
            <a:ext cx="5668920" cy="4033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41" name="Picture 9" descr="Admin panel.png"/>
          <p:cNvPicPr/>
          <p:nvPr/>
        </p:nvPicPr>
        <p:blipFill>
          <a:blip r:embed="rId2"/>
          <a:stretch/>
        </p:blipFill>
        <p:spPr>
          <a:xfrm>
            <a:off x="5577840" y="3977640"/>
            <a:ext cx="5668920" cy="23900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0B0F1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3" name="Rounded Rectangle 2"/>
          <p:cNvSpPr/>
          <p:nvPr/>
        </p:nvSpPr>
        <p:spPr>
          <a:xfrm>
            <a:off x="731520" y="411480"/>
            <a:ext cx="3108600" cy="319680"/>
          </a:xfrm>
          <a:prstGeom prst="roundRect">
            <a:avLst>
              <a:gd name="adj" fmla="val 16667"/>
            </a:avLst>
          </a:prstGeom>
          <a:solidFill>
            <a:srgbClr val="2D2550"/>
          </a:solidFill>
          <a:ln w="12700">
            <a:solidFill>
              <a:srgbClr val="534AB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A5B4FC"/>
                </a:solidFill>
                <a:effectLst/>
                <a:uFillTx/>
                <a:latin typeface="Calibri"/>
              </a:rPr>
              <a:t>TOPIC 10 • INNOVATIONS &amp; USPS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Box 3"/>
          <p:cNvSpPr/>
          <p:nvPr/>
        </p:nvSpPr>
        <p:spPr>
          <a:xfrm>
            <a:off x="731520" y="749880"/>
            <a:ext cx="86864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Key Architectural Innovations &amp; Competitive Edge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Box 4"/>
          <p:cNvSpPr/>
          <p:nvPr/>
        </p:nvSpPr>
        <p:spPr>
          <a:xfrm>
            <a:off x="8229600" y="411480"/>
            <a:ext cx="3200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FINDORA  •  BCA 8TH SEMESTER DEFENSE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A5B4FC"/>
                </a:solidFill>
                <a:effectLst/>
                <a:uFillTx/>
                <a:latin typeface="Calibri"/>
              </a:rPr>
              <a:t>11 / 15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Rectangle 5"/>
          <p:cNvSpPr/>
          <p:nvPr/>
        </p:nvSpPr>
        <p:spPr>
          <a:xfrm>
            <a:off x="731520" y="1325880"/>
            <a:ext cx="10728360" cy="12240"/>
          </a:xfrm>
          <a:prstGeom prst="rect">
            <a:avLst/>
          </a:prstGeom>
          <a:solidFill>
            <a:srgbClr val="33415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2400" rIns="90000" bIns="-324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7" name="Rounded Rectangle 6"/>
          <p:cNvSpPr/>
          <p:nvPr/>
        </p:nvSpPr>
        <p:spPr>
          <a:xfrm>
            <a:off x="731520" y="1554480"/>
            <a:ext cx="5166000" cy="2239920"/>
          </a:xfrm>
          <a:prstGeom prst="roundRect">
            <a:avLst>
              <a:gd name="adj" fmla="val 16667"/>
            </a:avLst>
          </a:prstGeom>
          <a:solidFill>
            <a:srgbClr val="182036"/>
          </a:solidFill>
          <a:ln w="15240">
            <a:solidFill>
              <a:srgbClr val="3341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8600" tIns="228600" rIns="2286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A5B4FC"/>
                </a:solidFill>
                <a:effectLst/>
                <a:uFillTx/>
                <a:latin typeface="Calibri"/>
              </a:rPr>
              <a:t>🔄 Linked Parent-Child Reports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1" u="none" strike="noStrike">
                <a:solidFill>
                  <a:srgbClr val="534AB7"/>
                </a:solidFill>
                <a:effectLst/>
                <a:uFillTx/>
                <a:latin typeface="Calibri"/>
              </a:rPr>
              <a:t>• </a:t>
            </a:r>
            <a:r>
              <a:rPr lang="en-US" sz="120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Direct Association: </a:t>
            </a:r>
            <a:r>
              <a:rPr lang="en-US" sz="12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Finders report directly against an owner's lost listing, creating an immediate linked match dialogue.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1" u="none" strike="noStrike">
                <a:solidFill>
                  <a:srgbClr val="534AB7"/>
                </a:solidFill>
                <a:effectLst/>
                <a:uFillTx/>
                <a:latin typeface="Calibri"/>
              </a:rPr>
              <a:t>• </a:t>
            </a:r>
            <a:r>
              <a:rPr lang="en-US" sz="120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Zero Duplication: </a:t>
            </a:r>
            <a:r>
              <a:rPr lang="en-US" sz="12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Prevents multiple disconnected reports for the exact same lost property.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" name="Rounded Rectangle 7"/>
          <p:cNvSpPr/>
          <p:nvPr/>
        </p:nvSpPr>
        <p:spPr>
          <a:xfrm>
            <a:off x="6263640" y="1554480"/>
            <a:ext cx="5166000" cy="2239920"/>
          </a:xfrm>
          <a:prstGeom prst="roundRect">
            <a:avLst>
              <a:gd name="adj" fmla="val 16667"/>
            </a:avLst>
          </a:prstGeom>
          <a:solidFill>
            <a:srgbClr val="182036"/>
          </a:solidFill>
          <a:ln w="15240">
            <a:solidFill>
              <a:srgbClr val="3341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8600" tIns="228600" rIns="2286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4ADE80"/>
                </a:solidFill>
                <a:effectLst/>
                <a:uFillTx/>
                <a:latin typeface="Calibri"/>
              </a:rPr>
              <a:t>🤝 Dual-Confirmation Return Handshake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1" u="none" strike="noStrike">
                <a:solidFill>
                  <a:srgbClr val="534AB7"/>
                </a:solidFill>
                <a:effectLst/>
                <a:uFillTx/>
                <a:latin typeface="Calibri"/>
              </a:rPr>
              <a:t>• </a:t>
            </a:r>
            <a:r>
              <a:rPr lang="en-US" sz="120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Mutual Verification: </a:t>
            </a:r>
            <a:r>
              <a:rPr lang="en-US" sz="12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Both Owner AND Finder must tap 'Confirm Return' in-app during physical handover.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1" u="none" strike="noStrike">
                <a:solidFill>
                  <a:srgbClr val="534AB7"/>
                </a:solidFill>
                <a:effectLst/>
                <a:uFillTx/>
                <a:latin typeface="Calibri"/>
              </a:rPr>
              <a:t>• </a:t>
            </a:r>
            <a:r>
              <a:rPr lang="en-US" sz="120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Eliminates False Claims: </a:t>
            </a:r>
            <a:r>
              <a:rPr lang="en-US" sz="12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Guarantees no party can falsely claim an item was returned or stolen.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" name="Rounded Rectangle 8"/>
          <p:cNvSpPr/>
          <p:nvPr/>
        </p:nvSpPr>
        <p:spPr>
          <a:xfrm>
            <a:off x="731520" y="4069080"/>
            <a:ext cx="5166000" cy="2239920"/>
          </a:xfrm>
          <a:prstGeom prst="roundRect">
            <a:avLst>
              <a:gd name="adj" fmla="val 16667"/>
            </a:avLst>
          </a:prstGeom>
          <a:solidFill>
            <a:srgbClr val="182036"/>
          </a:solidFill>
          <a:ln w="15240">
            <a:solidFill>
              <a:srgbClr val="3341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8600" tIns="228600" rIns="2286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BBF24"/>
                </a:solidFill>
                <a:effectLst/>
                <a:uFillTx/>
                <a:latin typeface="Calibri"/>
              </a:rPr>
              <a:t>🏆 Gamified Karma Reputation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1" u="none" strike="noStrike">
                <a:solidFill>
                  <a:srgbClr val="534AB7"/>
                </a:solidFill>
                <a:effectLst/>
                <a:uFillTx/>
                <a:latin typeface="Calibri"/>
              </a:rPr>
              <a:t>• </a:t>
            </a:r>
            <a:r>
              <a:rPr lang="en-US" sz="120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Immutable Ledger: </a:t>
            </a:r>
            <a:r>
              <a:rPr lang="en-US" sz="12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Earn +50 Karma Points for every verified return, building a transparent public score.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1" u="none" strike="noStrike">
                <a:solidFill>
                  <a:srgbClr val="534AB7"/>
                </a:solidFill>
                <a:effectLst/>
                <a:uFillTx/>
                <a:latin typeface="Calibri"/>
              </a:rPr>
              <a:t>• </a:t>
            </a:r>
            <a:r>
              <a:rPr lang="en-US" sz="120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Tiered Badges: </a:t>
            </a:r>
            <a:r>
              <a:rPr lang="en-US" sz="12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Unlock Good Samaritan, Top Finder, and Trusted Finder status badges.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" name="Rounded Rectangle 9"/>
          <p:cNvSpPr/>
          <p:nvPr/>
        </p:nvSpPr>
        <p:spPr>
          <a:xfrm>
            <a:off x="6263640" y="4069080"/>
            <a:ext cx="5166000" cy="2239920"/>
          </a:xfrm>
          <a:prstGeom prst="roundRect">
            <a:avLst>
              <a:gd name="adj" fmla="val 16667"/>
            </a:avLst>
          </a:prstGeom>
          <a:solidFill>
            <a:srgbClr val="182036"/>
          </a:solidFill>
          <a:ln w="15240">
            <a:solidFill>
              <a:srgbClr val="3341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8600" tIns="228600" rIns="2286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A5B4FC"/>
                </a:solidFill>
                <a:effectLst/>
                <a:uFillTx/>
                <a:latin typeface="Calibri"/>
              </a:rPr>
              <a:t>🔒 Zero-Exposure Private In-App Chat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1" u="none" strike="noStrike">
                <a:solidFill>
                  <a:srgbClr val="534AB7"/>
                </a:solidFill>
                <a:effectLst/>
                <a:uFillTx/>
                <a:latin typeface="Calibri"/>
              </a:rPr>
              <a:t>• </a:t>
            </a:r>
            <a:r>
              <a:rPr lang="en-US" sz="120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Privacy Protection: </a:t>
            </a:r>
            <a:r>
              <a:rPr lang="en-US" sz="12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Coordinate safe handover meetups without sharing private phone numbers or personal emails.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1" u="none" strike="noStrike">
                <a:solidFill>
                  <a:srgbClr val="534AB7"/>
                </a:solidFill>
                <a:effectLst/>
                <a:uFillTx/>
                <a:latin typeface="Calibri"/>
              </a:rPr>
              <a:t>• </a:t>
            </a:r>
            <a:r>
              <a:rPr lang="en-US" sz="120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Rich Controls: </a:t>
            </a:r>
            <a:r>
              <a:rPr lang="en-US" sz="12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Real-time message status, image sharing, edit message, and delete options.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0B0F1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2" name="Rounded Rectangle 2"/>
          <p:cNvSpPr/>
          <p:nvPr/>
        </p:nvSpPr>
        <p:spPr>
          <a:xfrm>
            <a:off x="731520" y="411480"/>
            <a:ext cx="3108600" cy="319680"/>
          </a:xfrm>
          <a:prstGeom prst="roundRect">
            <a:avLst>
              <a:gd name="adj" fmla="val 16667"/>
            </a:avLst>
          </a:prstGeom>
          <a:solidFill>
            <a:srgbClr val="2D2550"/>
          </a:solidFill>
          <a:ln w="12700">
            <a:solidFill>
              <a:srgbClr val="534AB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A5B4FC"/>
                </a:solidFill>
                <a:effectLst/>
                <a:uFillTx/>
                <a:latin typeface="Calibri"/>
              </a:rPr>
              <a:t>TOPIC 11 • MONETIZATION MODEL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Box 3"/>
          <p:cNvSpPr/>
          <p:nvPr/>
        </p:nvSpPr>
        <p:spPr>
          <a:xfrm>
            <a:off x="731520" y="749880"/>
            <a:ext cx="86864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Ethical Revenue Model: Free Utility + Paid Featured Listings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Box 4"/>
          <p:cNvSpPr/>
          <p:nvPr/>
        </p:nvSpPr>
        <p:spPr>
          <a:xfrm>
            <a:off x="8229600" y="411480"/>
            <a:ext cx="3200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FINDORA  •  BCA 8TH SEMESTER DEFENSE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A5B4FC"/>
                </a:solidFill>
                <a:effectLst/>
                <a:uFillTx/>
                <a:latin typeface="Calibri"/>
              </a:rPr>
              <a:t>12 / 15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Rectangle 5"/>
          <p:cNvSpPr/>
          <p:nvPr/>
        </p:nvSpPr>
        <p:spPr>
          <a:xfrm>
            <a:off x="731520" y="1325880"/>
            <a:ext cx="10728360" cy="12240"/>
          </a:xfrm>
          <a:prstGeom prst="rect">
            <a:avLst/>
          </a:prstGeom>
          <a:solidFill>
            <a:srgbClr val="33415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2400" rIns="90000" bIns="-324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6" name="Rounded Rectangle 6"/>
          <p:cNvSpPr/>
          <p:nvPr/>
        </p:nvSpPr>
        <p:spPr>
          <a:xfrm>
            <a:off x="731520" y="1554480"/>
            <a:ext cx="5166000" cy="4754520"/>
          </a:xfrm>
          <a:prstGeom prst="roundRect">
            <a:avLst>
              <a:gd name="adj" fmla="val 16667"/>
            </a:avLst>
          </a:prstGeom>
          <a:solidFill>
            <a:srgbClr val="182036"/>
          </a:solidFill>
          <a:ln w="15240">
            <a:solidFill>
              <a:srgbClr val="4ADE8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74320" tIns="274320" rIns="274320" bIns="45000" anchor="ctr">
            <a:noAutofit/>
          </a:bodyPr>
          <a:p>
            <a:pPr algn="ctr" defTabSz="457200">
              <a:lnSpc>
                <a:spcPct val="100000"/>
              </a:lnSpc>
              <a:spcAft>
                <a:spcPts val="1199"/>
              </a:spcAft>
            </a:pPr>
            <a:r>
              <a:rPr lang="en-US" sz="1800" b="1" u="none" strike="noStrike">
                <a:solidFill>
                  <a:srgbClr val="4ADE80"/>
                </a:solidFill>
                <a:effectLst/>
                <a:uFillTx/>
                <a:latin typeface="Calibri"/>
              </a:rPr>
              <a:t>🆓 100% Free Core Functionality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300" b="1" u="none" strike="noStrike">
                <a:solidFill>
                  <a:srgbClr val="534AB7"/>
                </a:solidFill>
                <a:effectLst/>
                <a:uFillTx/>
                <a:latin typeface="Calibri"/>
              </a:rPr>
              <a:t>• </a:t>
            </a:r>
            <a:r>
              <a:rPr lang="en-US" sz="130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Free Lost &amp; Found Posting: </a:t>
            </a:r>
            <a:r>
              <a:rPr lang="en-US" sz="13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Anyone can report missing or discovered goods at zero cost.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300" b="1" u="none" strike="noStrike">
                <a:solidFill>
                  <a:srgbClr val="534AB7"/>
                </a:solidFill>
                <a:effectLst/>
                <a:uFillTx/>
                <a:latin typeface="Calibri"/>
              </a:rPr>
              <a:t>• </a:t>
            </a:r>
            <a:r>
              <a:rPr lang="en-US" sz="130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Free In-App Chat: </a:t>
            </a:r>
            <a:r>
              <a:rPr lang="en-US" sz="13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Unlimited 1-on-1 private messaging for all active items.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300" b="1" u="none" strike="noStrike">
                <a:solidFill>
                  <a:srgbClr val="534AB7"/>
                </a:solidFill>
                <a:effectLst/>
                <a:uFillTx/>
                <a:latin typeface="Calibri"/>
              </a:rPr>
              <a:t>• </a:t>
            </a:r>
            <a:r>
              <a:rPr lang="en-US" sz="130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Free Search &amp; Maps: </a:t>
            </a:r>
            <a:r>
              <a:rPr lang="en-US" sz="13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Full access to category search, status filters, and GPS location.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300" b="1" u="none" strike="noStrike">
                <a:solidFill>
                  <a:srgbClr val="534AB7"/>
                </a:solidFill>
                <a:effectLst/>
                <a:uFillTx/>
                <a:latin typeface="Calibri"/>
              </a:rPr>
              <a:t>• </a:t>
            </a:r>
            <a:r>
              <a:rPr lang="en-US" sz="130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Free Verification &amp; Handshake: </a:t>
            </a:r>
            <a:r>
              <a:rPr lang="en-US" sz="13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Dual-confirmation return flow is always completely free.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" name="Rounded Rectangle 7"/>
          <p:cNvSpPr/>
          <p:nvPr/>
        </p:nvSpPr>
        <p:spPr>
          <a:xfrm>
            <a:off x="6263640" y="1554480"/>
            <a:ext cx="5166000" cy="4754520"/>
          </a:xfrm>
          <a:prstGeom prst="roundRect">
            <a:avLst>
              <a:gd name="adj" fmla="val 16667"/>
            </a:avLst>
          </a:prstGeom>
          <a:solidFill>
            <a:srgbClr val="182036"/>
          </a:solidFill>
          <a:ln w="15240">
            <a:solidFill>
              <a:srgbClr val="A5B4F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74320" tIns="274320" rIns="274320" bIns="45000" anchor="ctr">
            <a:noAutofit/>
          </a:bodyPr>
          <a:p>
            <a:pPr algn="ctr" defTabSz="457200">
              <a:lnSpc>
                <a:spcPct val="100000"/>
              </a:lnSpc>
              <a:spcAft>
                <a:spcPts val="1199"/>
              </a:spcAft>
            </a:pPr>
            <a:r>
              <a:rPr lang="en-US" sz="1800" b="1" u="none" strike="noStrike">
                <a:solidFill>
                  <a:srgbClr val="A5B4FC"/>
                </a:solidFill>
                <a:effectLst/>
                <a:uFillTx/>
                <a:latin typeface="Calibri"/>
              </a:rPr>
              <a:t>🚀 Optional Paid Featured Listings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300" b="1" u="none" strike="noStrike">
                <a:solidFill>
                  <a:srgbClr val="534AB7"/>
                </a:solidFill>
                <a:effectLst/>
                <a:uFillTx/>
                <a:latin typeface="Calibri"/>
              </a:rPr>
              <a:t>• </a:t>
            </a:r>
            <a:r>
              <a:rPr lang="en-US" sz="130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Top Feed Placement: </a:t>
            </a:r>
            <a:r>
              <a:rPr lang="en-US" sz="13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Pinned to the very top of home feed and search queries for maximum visibility.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300" b="1" u="none" strike="noStrike">
                <a:solidFill>
                  <a:srgbClr val="534AB7"/>
                </a:solidFill>
                <a:effectLst/>
                <a:uFillTx/>
                <a:latin typeface="Calibri"/>
              </a:rPr>
              <a:t>• </a:t>
            </a:r>
            <a:r>
              <a:rPr lang="en-US" sz="130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Urgent Recovery Boost: </a:t>
            </a:r>
            <a:r>
              <a:rPr lang="en-US" sz="13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Ideal for critical personal items (passports, laptops, wallets, keys).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300" b="1" u="none" strike="noStrike">
                <a:solidFill>
                  <a:srgbClr val="534AB7"/>
                </a:solidFill>
                <a:effectLst/>
                <a:uFillTx/>
                <a:latin typeface="Calibri"/>
              </a:rPr>
              <a:t>• </a:t>
            </a:r>
            <a:r>
              <a:rPr lang="en-US" sz="130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Visual 'FEATURED' Badge: </a:t>
            </a:r>
            <a:r>
              <a:rPr lang="en-US" sz="13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Highlighted purple badge instantly catches community finder attention.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300" b="1" u="none" strike="noStrike">
                <a:solidFill>
                  <a:srgbClr val="534AB7"/>
                </a:solidFill>
                <a:effectLst/>
                <a:uFillTx/>
                <a:latin typeface="Calibri"/>
              </a:rPr>
              <a:t>• </a:t>
            </a:r>
            <a:r>
              <a:rPr lang="en-US" sz="130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eSewa Wallet Integration: </a:t>
            </a:r>
            <a:r>
              <a:rPr lang="en-US" sz="13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Instant, secure digital payment checkout with server-side token verification.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0B0F1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9" name="Rounded Rectangle 2"/>
          <p:cNvSpPr/>
          <p:nvPr/>
        </p:nvSpPr>
        <p:spPr>
          <a:xfrm>
            <a:off x="731520" y="411480"/>
            <a:ext cx="3108600" cy="319680"/>
          </a:xfrm>
          <a:prstGeom prst="roundRect">
            <a:avLst>
              <a:gd name="adj" fmla="val 16667"/>
            </a:avLst>
          </a:prstGeom>
          <a:solidFill>
            <a:srgbClr val="2D2550"/>
          </a:solidFill>
          <a:ln w="12700">
            <a:solidFill>
              <a:srgbClr val="534AB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A5B4FC"/>
                </a:solidFill>
                <a:effectLst/>
                <a:uFillTx/>
                <a:latin typeface="Calibri"/>
              </a:rPr>
              <a:t>TOPIC 12 • TESTING &amp; QA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Box 3"/>
          <p:cNvSpPr/>
          <p:nvPr/>
        </p:nvSpPr>
        <p:spPr>
          <a:xfrm>
            <a:off x="731520" y="749880"/>
            <a:ext cx="86864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Comprehensive Testing Strategy &amp; Verification Results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Box 4"/>
          <p:cNvSpPr/>
          <p:nvPr/>
        </p:nvSpPr>
        <p:spPr>
          <a:xfrm>
            <a:off x="8229600" y="411480"/>
            <a:ext cx="3200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FINDORA  •  BCA 8TH SEMESTER DEFENSE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A5B4FC"/>
                </a:solidFill>
                <a:effectLst/>
                <a:uFillTx/>
                <a:latin typeface="Calibri"/>
              </a:rPr>
              <a:t>13 / 15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Rectangle 5"/>
          <p:cNvSpPr/>
          <p:nvPr/>
        </p:nvSpPr>
        <p:spPr>
          <a:xfrm>
            <a:off x="731520" y="1325880"/>
            <a:ext cx="10728360" cy="12240"/>
          </a:xfrm>
          <a:prstGeom prst="rect">
            <a:avLst/>
          </a:prstGeom>
          <a:solidFill>
            <a:srgbClr val="33415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2400" rIns="90000" bIns="-324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3" name="Rounded Rectangle 6"/>
          <p:cNvSpPr/>
          <p:nvPr/>
        </p:nvSpPr>
        <p:spPr>
          <a:xfrm>
            <a:off x="731520" y="1554480"/>
            <a:ext cx="3337200" cy="4754520"/>
          </a:xfrm>
          <a:prstGeom prst="roundRect">
            <a:avLst>
              <a:gd name="adj" fmla="val 16667"/>
            </a:avLst>
          </a:prstGeom>
          <a:solidFill>
            <a:srgbClr val="182036"/>
          </a:solidFill>
          <a:ln w="15240">
            <a:solidFill>
              <a:srgbClr val="4ADE8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8600" tIns="228600" rIns="228600" bIns="45000" anchor="ctr">
            <a:noAutofit/>
          </a:bodyPr>
          <a:p>
            <a:pPr algn="ctr" defTabSz="457200">
              <a:lnSpc>
                <a:spcPct val="100000"/>
              </a:lnSpc>
              <a:spcAft>
                <a:spcPts val="1199"/>
              </a:spcAft>
            </a:pPr>
            <a:r>
              <a:rPr lang="en-US" sz="1600" b="1" u="none" strike="noStrike">
                <a:solidFill>
                  <a:srgbClr val="4ADE80"/>
                </a:solidFill>
                <a:effectLst/>
                <a:uFillTx/>
                <a:latin typeface="Calibri"/>
              </a:rPr>
              <a:t>🧪 Automated Test Suite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250" b="1" u="none" strike="noStrike">
                <a:solidFill>
                  <a:srgbClr val="534AB7"/>
                </a:solidFill>
                <a:effectLst/>
                <a:uFillTx/>
                <a:latin typeface="Calibri"/>
              </a:rPr>
              <a:t>• </a:t>
            </a:r>
            <a:r>
              <a:rPr lang="en-US" sz="125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100% Pass Rate: </a:t>
            </a:r>
            <a:r>
              <a:rPr lang="en-US" sz="125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45 Automated Unit &amp; Integration tests executed successfully via Django test runner.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250" b="1" u="none" strike="noStrike">
                <a:solidFill>
                  <a:srgbClr val="534AB7"/>
                </a:solidFill>
                <a:effectLst/>
                <a:uFillTx/>
                <a:latin typeface="Calibri"/>
              </a:rPr>
              <a:t>• </a:t>
            </a:r>
            <a:r>
              <a:rPr lang="en-US" sz="125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Auth &amp; Security Tests: </a:t>
            </a:r>
            <a:r>
              <a:rPr lang="en-US" sz="125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JWT token lifecycle, password hashing, and role permission enforcement.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250" b="1" u="none" strike="noStrike">
                <a:solidFill>
                  <a:srgbClr val="534AB7"/>
                </a:solidFill>
                <a:effectLst/>
                <a:uFillTx/>
                <a:latin typeface="Calibri"/>
              </a:rPr>
              <a:t>• </a:t>
            </a:r>
            <a:r>
              <a:rPr lang="en-US" sz="125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Workflow Tests: </a:t>
            </a:r>
            <a:r>
              <a:rPr lang="en-US" sz="125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Item creation, claim submission, secret answer checks, and dual confirmation.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" name="Rounded Rectangle 7"/>
          <p:cNvSpPr/>
          <p:nvPr/>
        </p:nvSpPr>
        <p:spPr>
          <a:xfrm>
            <a:off x="4416480" y="1554480"/>
            <a:ext cx="3337200" cy="4754520"/>
          </a:xfrm>
          <a:prstGeom prst="roundRect">
            <a:avLst>
              <a:gd name="adj" fmla="val 16667"/>
            </a:avLst>
          </a:prstGeom>
          <a:solidFill>
            <a:srgbClr val="182036"/>
          </a:solidFill>
          <a:ln w="15240">
            <a:solidFill>
              <a:srgbClr val="A5B4F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8600" tIns="228600" rIns="228600" bIns="45000" anchor="ctr">
            <a:noAutofit/>
          </a:bodyPr>
          <a:p>
            <a:pPr algn="ctr" defTabSz="457200">
              <a:lnSpc>
                <a:spcPct val="100000"/>
              </a:lnSpc>
              <a:spcAft>
                <a:spcPts val="1199"/>
              </a:spcAft>
            </a:pPr>
            <a:r>
              <a:rPr lang="en-US" sz="1600" b="1" u="none" strike="noStrike">
                <a:solidFill>
                  <a:srgbClr val="A5B4FC"/>
                </a:solidFill>
                <a:effectLst/>
                <a:uFillTx/>
                <a:latin typeface="Calibri"/>
              </a:rPr>
              <a:t>⚡ Performance &amp; Scale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250" b="1" u="none" strike="noStrike">
                <a:solidFill>
                  <a:srgbClr val="534AB7"/>
                </a:solidFill>
                <a:effectLst/>
                <a:uFillTx/>
                <a:latin typeface="Calibri"/>
              </a:rPr>
              <a:t>• </a:t>
            </a:r>
            <a:r>
              <a:rPr lang="en-US" sz="125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&lt; 180ms Latency: </a:t>
            </a:r>
            <a:r>
              <a:rPr lang="en-US" sz="125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Average API server response time under 180 ms for all standard REST endpoints.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250" b="1" u="none" strike="noStrike">
                <a:solidFill>
                  <a:srgbClr val="534AB7"/>
                </a:solidFill>
                <a:effectLst/>
                <a:uFillTx/>
                <a:latin typeface="Calibri"/>
              </a:rPr>
              <a:t>• </a:t>
            </a:r>
            <a:r>
              <a:rPr lang="en-US" sz="125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200+ Concurrency: </a:t>
            </a:r>
            <a:r>
              <a:rPr lang="en-US" sz="125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Stress-tested with up to 200 concurrent active users with zero connection drops.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250" b="1" u="none" strike="noStrike">
                <a:solidFill>
                  <a:srgbClr val="534AB7"/>
                </a:solidFill>
                <a:effectLst/>
                <a:uFillTx/>
                <a:latin typeface="Calibri"/>
              </a:rPr>
              <a:t>• </a:t>
            </a:r>
            <a:r>
              <a:rPr lang="en-US" sz="125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Zero DB Deadlocks: </a:t>
            </a:r>
            <a:r>
              <a:rPr lang="en-US" sz="125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ACID transactions maintained zero locking contention during simultaneous claims.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" name="Rounded Rectangle 8"/>
          <p:cNvSpPr/>
          <p:nvPr/>
        </p:nvSpPr>
        <p:spPr>
          <a:xfrm>
            <a:off x="8101440" y="1554480"/>
            <a:ext cx="3337200" cy="4754520"/>
          </a:xfrm>
          <a:prstGeom prst="roundRect">
            <a:avLst>
              <a:gd name="adj" fmla="val 16667"/>
            </a:avLst>
          </a:prstGeom>
          <a:solidFill>
            <a:srgbClr val="182036"/>
          </a:solidFill>
          <a:ln w="15240">
            <a:solidFill>
              <a:srgbClr val="FBBF2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8600" tIns="228600" rIns="228600" bIns="45000" anchor="ctr">
            <a:noAutofit/>
          </a:bodyPr>
          <a:p>
            <a:pPr algn="ctr" defTabSz="457200">
              <a:lnSpc>
                <a:spcPct val="100000"/>
              </a:lnSpc>
              <a:spcAft>
                <a:spcPts val="1199"/>
              </a:spcAft>
            </a:pPr>
            <a:r>
              <a:rPr lang="en-US" sz="1600" b="1" u="none" strike="noStrike">
                <a:solidFill>
                  <a:srgbClr val="FBBF24"/>
                </a:solidFill>
                <a:effectLst/>
                <a:uFillTx/>
                <a:latin typeface="Calibri"/>
              </a:rPr>
              <a:t>📱 Device Compatibility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250" b="1" u="none" strike="noStrike">
                <a:solidFill>
                  <a:srgbClr val="534AB7"/>
                </a:solidFill>
                <a:effectLst/>
                <a:uFillTx/>
                <a:latin typeface="Calibri"/>
              </a:rPr>
              <a:t>• </a:t>
            </a:r>
            <a:r>
              <a:rPr lang="en-US" sz="125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Physical Devices: </a:t>
            </a:r>
            <a:r>
              <a:rPr lang="en-US" sz="125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Smooth touch gestures, camera capture, and push alerts across Android 7.0 to 15.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250" b="1" u="none" strike="noStrike">
                <a:solidFill>
                  <a:srgbClr val="534AB7"/>
                </a:solidFill>
                <a:effectLst/>
                <a:uFillTx/>
                <a:latin typeface="Calibri"/>
              </a:rPr>
              <a:t>• </a:t>
            </a:r>
            <a:r>
              <a:rPr lang="en-US" sz="125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Emulator &amp; PC Mode: </a:t>
            </a:r>
            <a:r>
              <a:rPr lang="en-US" sz="125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Full mouse hover, 3-dots quick actions, and right-click context menu on BlueStacks 5.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250" b="1" u="none" strike="noStrike">
                <a:solidFill>
                  <a:srgbClr val="534AB7"/>
                </a:solidFill>
                <a:effectLst/>
                <a:uFillTx/>
                <a:latin typeface="Calibri"/>
              </a:rPr>
              <a:t>• </a:t>
            </a:r>
            <a:r>
              <a:rPr lang="en-US" sz="125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Offline Cache: </a:t>
            </a:r>
            <a:r>
              <a:rPr lang="en-US" sz="125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0ms immediate feed rendering from L1 memory &amp; L2 disk cache on weak networks.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0B0F1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7" name="Rounded Rectangle 2"/>
          <p:cNvSpPr/>
          <p:nvPr/>
        </p:nvSpPr>
        <p:spPr>
          <a:xfrm>
            <a:off x="731520" y="411480"/>
            <a:ext cx="3108600" cy="319680"/>
          </a:xfrm>
          <a:prstGeom prst="roundRect">
            <a:avLst>
              <a:gd name="adj" fmla="val 16667"/>
            </a:avLst>
          </a:prstGeom>
          <a:solidFill>
            <a:srgbClr val="2D2550"/>
          </a:solidFill>
          <a:ln w="12700">
            <a:solidFill>
              <a:srgbClr val="534AB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A5B4FC"/>
                </a:solidFill>
                <a:effectLst/>
                <a:uFillTx/>
                <a:latin typeface="Calibri"/>
              </a:rPr>
              <a:t>TOPIC 13 • CONCLUSION &amp; ROADMAP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Box 3"/>
          <p:cNvSpPr/>
          <p:nvPr/>
        </p:nvSpPr>
        <p:spPr>
          <a:xfrm>
            <a:off x="731520" y="749880"/>
            <a:ext cx="86864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Project Summary &amp; Future Innovation Roadmap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Box 4"/>
          <p:cNvSpPr/>
          <p:nvPr/>
        </p:nvSpPr>
        <p:spPr>
          <a:xfrm>
            <a:off x="8229600" y="411480"/>
            <a:ext cx="3200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FINDORA  •  BCA 8TH SEMESTER DEFENSE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A5B4FC"/>
                </a:solidFill>
                <a:effectLst/>
                <a:uFillTx/>
                <a:latin typeface="Calibri"/>
              </a:rPr>
              <a:t>14 / 15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Rectangle 5"/>
          <p:cNvSpPr/>
          <p:nvPr/>
        </p:nvSpPr>
        <p:spPr>
          <a:xfrm>
            <a:off x="731520" y="1325880"/>
            <a:ext cx="10728360" cy="12240"/>
          </a:xfrm>
          <a:prstGeom prst="rect">
            <a:avLst/>
          </a:prstGeom>
          <a:solidFill>
            <a:srgbClr val="33415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2400" rIns="90000" bIns="-324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1" name="Rounded Rectangle 6"/>
          <p:cNvSpPr/>
          <p:nvPr/>
        </p:nvSpPr>
        <p:spPr>
          <a:xfrm>
            <a:off x="731520" y="1554480"/>
            <a:ext cx="5166000" cy="4754520"/>
          </a:xfrm>
          <a:prstGeom prst="roundRect">
            <a:avLst>
              <a:gd name="adj" fmla="val 16667"/>
            </a:avLst>
          </a:prstGeom>
          <a:solidFill>
            <a:srgbClr val="182036"/>
          </a:solidFill>
          <a:ln w="15240">
            <a:solidFill>
              <a:srgbClr val="4ADE8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74320" tIns="274320" rIns="274320" bIns="45000" anchor="ctr">
            <a:noAutofit/>
          </a:bodyPr>
          <a:p>
            <a:pPr algn="ctr" defTabSz="457200">
              <a:lnSpc>
                <a:spcPct val="100000"/>
              </a:lnSpc>
              <a:spcAft>
                <a:spcPts val="1199"/>
              </a:spcAft>
            </a:pPr>
            <a:r>
              <a:rPr lang="en-US" sz="1800" b="1" u="none" strike="noStrike">
                <a:solidFill>
                  <a:srgbClr val="4ADE80"/>
                </a:solidFill>
                <a:effectLst/>
                <a:uFillTx/>
                <a:latin typeface="Calibri"/>
              </a:rPr>
              <a:t>🎯 Key Project Achievements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300" b="1" u="none" strike="noStrike">
                <a:solidFill>
                  <a:srgbClr val="534AB7"/>
                </a:solidFill>
                <a:effectLst/>
                <a:uFillTx/>
                <a:latin typeface="Calibri"/>
              </a:rPr>
              <a:t>• </a:t>
            </a:r>
            <a:r>
              <a:rPr lang="en-US" sz="130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Full-Stack System Delivered: </a:t>
            </a:r>
            <a:r>
              <a:rPr lang="en-US" sz="13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Fully functional native Android app, Django REST API, and PostgreSQL database.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300" b="1" u="none" strike="noStrike">
                <a:solidFill>
                  <a:srgbClr val="534AB7"/>
                </a:solidFill>
                <a:effectLst/>
                <a:uFillTx/>
                <a:latin typeface="Calibri"/>
              </a:rPr>
              <a:t>• </a:t>
            </a:r>
            <a:r>
              <a:rPr lang="en-US" sz="130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Structured Recovery Workflow: </a:t>
            </a:r>
            <a:r>
              <a:rPr lang="en-US" sz="13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Replaced chaotic social media posts with categorized, geo-tagged, and searchable listings.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300" b="1" u="none" strike="noStrike">
                <a:solidFill>
                  <a:srgbClr val="534AB7"/>
                </a:solidFill>
                <a:effectLst/>
                <a:uFillTx/>
                <a:latin typeface="Calibri"/>
              </a:rPr>
              <a:t>• </a:t>
            </a:r>
            <a:r>
              <a:rPr lang="en-US" sz="130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Fraud-Proof Security: </a:t>
            </a:r>
            <a:r>
              <a:rPr lang="en-US" sz="13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Engineered secret proof questions and dual-confirmation return handshakes.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300" b="1" u="none" strike="noStrike">
                <a:solidFill>
                  <a:srgbClr val="534AB7"/>
                </a:solidFill>
                <a:effectLst/>
                <a:uFillTx/>
                <a:latin typeface="Calibri"/>
              </a:rPr>
              <a:t>• </a:t>
            </a:r>
            <a:r>
              <a:rPr lang="en-US" sz="130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Community Incentives: </a:t>
            </a:r>
            <a:r>
              <a:rPr lang="en-US" sz="13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Implemented gamified Karma Points (+50 pts), Tiered Badges, and 5-Star Ratings.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" name="Rounded Rectangle 7"/>
          <p:cNvSpPr/>
          <p:nvPr/>
        </p:nvSpPr>
        <p:spPr>
          <a:xfrm>
            <a:off x="6263640" y="1554480"/>
            <a:ext cx="5166000" cy="4754520"/>
          </a:xfrm>
          <a:prstGeom prst="roundRect">
            <a:avLst>
              <a:gd name="adj" fmla="val 16667"/>
            </a:avLst>
          </a:prstGeom>
          <a:solidFill>
            <a:srgbClr val="182036"/>
          </a:solidFill>
          <a:ln w="15240">
            <a:solidFill>
              <a:srgbClr val="A5B4F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74320" tIns="274320" rIns="274320" bIns="45000" anchor="ctr">
            <a:noAutofit/>
          </a:bodyPr>
          <a:p>
            <a:pPr algn="ctr" defTabSz="457200">
              <a:lnSpc>
                <a:spcPct val="100000"/>
              </a:lnSpc>
              <a:spcAft>
                <a:spcPts val="1199"/>
              </a:spcAft>
            </a:pPr>
            <a:r>
              <a:rPr lang="en-US" sz="1800" b="1" u="none" strike="noStrike">
                <a:solidFill>
                  <a:srgbClr val="A5B4FC"/>
                </a:solidFill>
                <a:effectLst/>
                <a:uFillTx/>
                <a:latin typeface="Calibri"/>
              </a:rPr>
              <a:t>🔮 Future Innovation Roadmap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300" b="1" u="none" strike="noStrike">
                <a:solidFill>
                  <a:srgbClr val="534AB7"/>
                </a:solidFill>
                <a:effectLst/>
                <a:uFillTx/>
                <a:latin typeface="Calibri"/>
              </a:rPr>
              <a:t>• </a:t>
            </a:r>
            <a:r>
              <a:rPr lang="en-US" sz="130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AI Visual Image Matching: </a:t>
            </a:r>
            <a:r>
              <a:rPr lang="en-US" sz="13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Automated image similarity matching using deep learning visual embeddings.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300" b="1" u="none" strike="noStrike">
                <a:solidFill>
                  <a:srgbClr val="534AB7"/>
                </a:solidFill>
                <a:effectLst/>
                <a:uFillTx/>
                <a:latin typeface="Calibri"/>
              </a:rPr>
              <a:t>• </a:t>
            </a:r>
            <a:r>
              <a:rPr lang="en-US" sz="130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Interactive Geofencing Alerts: </a:t>
            </a:r>
            <a:r>
              <a:rPr lang="en-US" sz="13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Radius-based background push notifications when lost items are reported nearby.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300" b="1" u="none" strike="noStrike">
                <a:solidFill>
                  <a:srgbClr val="534AB7"/>
                </a:solidFill>
                <a:effectLst/>
                <a:uFillTx/>
                <a:latin typeface="Calibri"/>
              </a:rPr>
              <a:t>• </a:t>
            </a:r>
            <a:r>
              <a:rPr lang="en-US" sz="130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Dynamic QR Item Tags: </a:t>
            </a:r>
            <a:r>
              <a:rPr lang="en-US" sz="13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Printable QR stickers for laptops/wallets enabling instant scan-to-report for finders.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300" b="1" u="none" strike="noStrike">
                <a:solidFill>
                  <a:srgbClr val="534AB7"/>
                </a:solidFill>
                <a:effectLst/>
                <a:uFillTx/>
                <a:latin typeface="Calibri"/>
              </a:rPr>
              <a:t>• </a:t>
            </a:r>
            <a:r>
              <a:rPr lang="en-US" sz="130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Multilingual Localization: </a:t>
            </a:r>
            <a:r>
              <a:rPr lang="en-US" sz="13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Complete Nepali language support to broaden community adoption across Nepal.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0B0F1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4" name="Rounded Rectangle 2"/>
          <p:cNvSpPr/>
          <p:nvPr/>
        </p:nvSpPr>
        <p:spPr>
          <a:xfrm>
            <a:off x="1645920" y="1097280"/>
            <a:ext cx="8899560" cy="4663080"/>
          </a:xfrm>
          <a:prstGeom prst="roundRect">
            <a:avLst>
              <a:gd name="adj" fmla="val 16667"/>
            </a:avLst>
          </a:prstGeom>
          <a:solidFill>
            <a:srgbClr val="182036"/>
          </a:solidFill>
          <a:ln w="15240">
            <a:solidFill>
              <a:srgbClr val="534AB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0" tIns="457200" rIns="4572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A5B4FC"/>
                </a:solidFill>
                <a:effectLst/>
                <a:uFillTx/>
                <a:latin typeface="Calibri"/>
              </a:rPr>
              <a:t>FINDORA  •  COMMUNITY-DRIVEN LOST AND FOUND PLATFORM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  <a:spcBef>
                <a:spcPts val="1001"/>
              </a:spcBef>
            </a:pPr>
            <a:r>
              <a:rPr lang="en-US" sz="480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THANK YOU!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  <a:spcBef>
                <a:spcPts val="799"/>
              </a:spcBef>
              <a:spcAft>
                <a:spcPts val="2401"/>
              </a:spcAft>
            </a:pPr>
            <a:r>
              <a:rPr lang="en-US" sz="2000" b="1" u="none" strike="noStrike">
                <a:solidFill>
                  <a:srgbClr val="4ADE80"/>
                </a:solidFill>
                <a:effectLst/>
                <a:uFillTx/>
                <a:latin typeface="Calibri"/>
              </a:rPr>
              <a:t>Questions, Suggestions &amp; Feedback are Welcome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Bibek Poudel  •  Pratikshya Maske  •  Sumina Pokhrel</a:t>
            </a:r>
            <a:br>
              <a:rPr sz="1200"/>
            </a:br>
            <a:r>
              <a:rPr lang="en-US" sz="12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Supervised By: Mr. Anil Thapaliya  |  Mr. Shiva Pathak</a:t>
            </a:r>
            <a:br>
              <a:rPr sz="1200"/>
            </a:br>
            <a:r>
              <a:rPr lang="en-US" sz="12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Oxford College of Engineering and Management, Gaidakot, Nawalpur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</TotalTime>
  <Application>LibreOffice/26.2.1.2$Windows_X86_64 LibreOffice_project/620$Build-2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2026-09-10T08:32:21Z</dcterms:modified>
  <cp:revision>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